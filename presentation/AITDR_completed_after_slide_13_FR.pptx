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Accueil</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a:t>
            </a:r>
          </a:p>
        </p:txBody>
      </p:sp>
      <p:sp>
        <p:nvSpPr>
          <p:cNvPr id="16" name="TextBox 15"/>
          <p:cNvSpPr txBox="1"/>
          <p:nvPr/>
        </p:nvSpPr>
        <p:spPr>
          <a:xfrm>
            <a:off x="914400" y="1874519"/>
            <a:ext cx="10378440" cy="777240"/>
          </a:xfrm>
          <a:prstGeom prst="rect">
            <a:avLst/>
          </a:prstGeom>
          <a:noFill/>
        </p:spPr>
        <p:txBody>
          <a:bodyPr wrap="square" lIns="0" rIns="0" tIns="0" bIns="0">
            <a:spAutoFit/>
          </a:bodyPr>
          <a:lstStyle/>
          <a:p>
            <a:pPr algn="ctr"/>
            <a:r>
              <a:rPr sz="4800" b="1" i="1">
                <a:solidFill>
                  <a:srgbClr val="074662"/>
                </a:solidFill>
                <a:latin typeface="Georgia"/>
              </a:rPr>
              <a:t>AITDR</a:t>
            </a:r>
          </a:p>
        </p:txBody>
      </p:sp>
      <p:sp>
        <p:nvSpPr>
          <p:cNvPr id="17" name="TextBox 16"/>
          <p:cNvSpPr txBox="1"/>
          <p:nvPr/>
        </p:nvSpPr>
        <p:spPr>
          <a:xfrm>
            <a:off x="914400" y="2697480"/>
            <a:ext cx="10378440" cy="384048"/>
          </a:xfrm>
          <a:prstGeom prst="rect">
            <a:avLst/>
          </a:prstGeom>
          <a:noFill/>
        </p:spPr>
        <p:txBody>
          <a:bodyPr wrap="square" lIns="0" rIns="0" tIns="0" bIns="0">
            <a:spAutoFit/>
          </a:bodyPr>
          <a:lstStyle/>
          <a:p>
            <a:pPr algn="ctr"/>
            <a:r>
              <a:rPr sz="2200" b="0" i="0">
                <a:solidFill>
                  <a:srgbClr val="074662"/>
                </a:solidFill>
                <a:latin typeface="Aptos"/>
              </a:rPr>
              <a:t>Azure Intelligent Threat Detection &amp; Response</a:t>
            </a:r>
          </a:p>
        </p:txBody>
      </p:sp>
      <p:sp>
        <p:nvSpPr>
          <p:cNvPr id="18" name="TextBox 17"/>
          <p:cNvSpPr txBox="1"/>
          <p:nvPr/>
        </p:nvSpPr>
        <p:spPr>
          <a:xfrm>
            <a:off x="914400" y="3246120"/>
            <a:ext cx="10378440" cy="274320"/>
          </a:xfrm>
          <a:prstGeom prst="rect">
            <a:avLst/>
          </a:prstGeom>
          <a:noFill/>
        </p:spPr>
        <p:txBody>
          <a:bodyPr wrap="square" lIns="0" rIns="0" tIns="0" bIns="0">
            <a:spAutoFit/>
          </a:bodyPr>
          <a:lstStyle/>
          <a:p>
            <a:pPr algn="ctr"/>
            <a:r>
              <a:rPr sz="1300" b="0" i="0">
                <a:solidFill>
                  <a:srgbClr val="7C96A0"/>
                </a:solidFill>
                <a:latin typeface="Aptos"/>
              </a:rPr>
              <a:t>Plateforme SOC Cloud intelligente</a:t>
            </a:r>
          </a:p>
        </p:txBody>
      </p:sp>
      <p:sp>
        <p:nvSpPr>
          <p:cNvPr id="19" name="TextBox 18"/>
          <p:cNvSpPr txBox="1"/>
          <p:nvPr/>
        </p:nvSpPr>
        <p:spPr>
          <a:xfrm>
            <a:off x="914400" y="3593591"/>
            <a:ext cx="10378440" cy="274320"/>
          </a:xfrm>
          <a:prstGeom prst="rect">
            <a:avLst/>
          </a:prstGeom>
          <a:noFill/>
        </p:spPr>
        <p:txBody>
          <a:bodyPr wrap="square" lIns="0" rIns="0" tIns="0" bIns="0">
            <a:spAutoFit/>
          </a:bodyPr>
          <a:lstStyle/>
          <a:p>
            <a:pPr algn="ctr"/>
            <a:r>
              <a:rPr sz="1300" b="0" i="0">
                <a:solidFill>
                  <a:srgbClr val="7C96A0"/>
                </a:solidFill>
                <a:latin typeface="Aptos"/>
              </a:rPr>
              <a:t>Détection automatisée, réponse SOAR et analyse par IA</a:t>
            </a:r>
          </a:p>
        </p:txBody>
      </p:sp>
      <p:sp>
        <p:nvSpPr>
          <p:cNvPr id="20" name="TextBox 19"/>
          <p:cNvSpPr txBox="1"/>
          <p:nvPr/>
        </p:nvSpPr>
        <p:spPr>
          <a:xfrm>
            <a:off x="914400" y="3941063"/>
            <a:ext cx="10378440" cy="274320"/>
          </a:xfrm>
          <a:prstGeom prst="rect">
            <a:avLst/>
          </a:prstGeom>
          <a:noFill/>
        </p:spPr>
        <p:txBody>
          <a:bodyPr wrap="square" lIns="0" rIns="0" tIns="0" bIns="0">
            <a:spAutoFit/>
          </a:bodyPr>
          <a:lstStyle/>
          <a:p>
            <a:pPr algn="ctr"/>
            <a:r>
              <a:rPr sz="1300" b="0" i="0">
                <a:solidFill>
                  <a:srgbClr val="7C96A0"/>
                </a:solidFill>
                <a:latin typeface="Aptos"/>
              </a:rPr>
              <a:t>Projet de Fin d'Année - 2025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Plan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Sommaire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Plan de la présentation</a:t>
            </a:r>
          </a:p>
        </p:txBody>
      </p:sp>
      <p:sp>
        <p:nvSpPr>
          <p:cNvPr id="18" name="Rounded Rectangle 17"/>
          <p:cNvSpPr/>
          <p:nvPr/>
        </p:nvSpPr>
        <p:spPr>
          <a:xfrm>
            <a:off x="822960" y="1417320"/>
            <a:ext cx="5166360" cy="42976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1417320"/>
            <a:ext cx="73152" cy="429768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1581912"/>
            <a:ext cx="4837176" cy="274320"/>
          </a:xfrm>
          <a:prstGeom prst="rect">
            <a:avLst/>
          </a:prstGeom>
          <a:noFill/>
        </p:spPr>
        <p:txBody>
          <a:bodyPr wrap="square" lIns="0" rIns="0" tIns="0" bIns="0">
            <a:spAutoFit/>
          </a:bodyPr>
          <a:lstStyle/>
          <a:p>
            <a:pPr algn="l"/>
            <a:r>
              <a:rPr sz="1300" b="1" i="0">
                <a:solidFill>
                  <a:srgbClr val="074662"/>
                </a:solidFill>
                <a:latin typeface="Aptos"/>
              </a:rPr>
              <a:t>Première partie</a:t>
            </a:r>
          </a:p>
        </p:txBody>
      </p:sp>
      <p:sp>
        <p:nvSpPr>
          <p:cNvPr id="21" name="TextBox 20"/>
          <p:cNvSpPr txBox="1"/>
          <p:nvPr/>
        </p:nvSpPr>
        <p:spPr>
          <a:xfrm>
            <a:off x="1051560" y="2011680"/>
            <a:ext cx="4782312" cy="3566160"/>
          </a:xfrm>
          <a:prstGeom prst="rect">
            <a:avLst/>
          </a:prstGeom>
          <a:noFill/>
        </p:spPr>
        <p:txBody>
          <a:bodyPr wrap="square">
            <a:spAutoFit/>
          </a:bodyPr>
          <a:lstStyle/>
          <a:p>
            <a:pPr>
              <a:spcAft>
                <a:spcPts val="500"/>
              </a:spcAft>
              <a:defRPr sz="1030">
                <a:solidFill>
                  <a:srgbClr val="053146"/>
                </a:solidFill>
                <a:latin typeface="Aptos"/>
              </a:defRPr>
            </a:pPr>
            <a:r>
              <a:t>Contexte, problématique et objectifs</a:t>
            </a:r>
          </a:p>
          <a:p>
            <a:pPr>
              <a:spcAft>
                <a:spcPts val="500"/>
              </a:spcAft>
              <a:defRPr sz="1030">
                <a:solidFill>
                  <a:srgbClr val="053146"/>
                </a:solidFill>
                <a:latin typeface="Aptos"/>
              </a:defRPr>
            </a:pPr>
            <a:r>
              <a:t>Architecture globale AITDR</a:t>
            </a:r>
          </a:p>
          <a:p>
            <a:pPr>
              <a:spcAft>
                <a:spcPts val="500"/>
              </a:spcAft>
              <a:defRPr sz="1030">
                <a:solidFill>
                  <a:srgbClr val="053146"/>
                </a:solidFill>
                <a:latin typeface="Aptos"/>
              </a:defRPr>
            </a:pPr>
            <a:r>
              <a:t>Infrastructure Azure et budget</a:t>
            </a:r>
          </a:p>
          <a:p>
            <a:pPr>
              <a:spcAft>
                <a:spcPts val="500"/>
              </a:spcAft>
              <a:defRPr sz="1030">
                <a:solidFill>
                  <a:srgbClr val="053146"/>
                </a:solidFill>
                <a:latin typeface="Aptos"/>
              </a:defRPr>
            </a:pPr>
            <a:r>
              <a:t>Collecte des logs, SIEM Sentinel et SOAR</a:t>
            </a:r>
          </a:p>
          <a:p>
            <a:pPr>
              <a:spcAft>
                <a:spcPts val="500"/>
              </a:spcAft>
              <a:defRPr sz="1030">
                <a:solidFill>
                  <a:srgbClr val="053146"/>
                </a:solidFill>
                <a:latin typeface="Aptos"/>
              </a:defRPr>
            </a:pPr>
            <a:r>
              <a:t>Machine Learning et visualisation Power BI</a:t>
            </a:r>
          </a:p>
        </p:txBody>
      </p:sp>
      <p:sp>
        <p:nvSpPr>
          <p:cNvPr id="22" name="Rounded Rectangle 21"/>
          <p:cNvSpPr/>
          <p:nvPr/>
        </p:nvSpPr>
        <p:spPr>
          <a:xfrm>
            <a:off x="6355080" y="1417320"/>
            <a:ext cx="4892040" cy="42976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5080" y="1417320"/>
            <a:ext cx="73152" cy="429768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56248" y="1581912"/>
            <a:ext cx="4562855" cy="274320"/>
          </a:xfrm>
          <a:prstGeom prst="rect">
            <a:avLst/>
          </a:prstGeom>
          <a:noFill/>
        </p:spPr>
        <p:txBody>
          <a:bodyPr wrap="square" lIns="0" rIns="0" tIns="0" bIns="0">
            <a:spAutoFit/>
          </a:bodyPr>
          <a:lstStyle/>
          <a:p>
            <a:pPr algn="l"/>
            <a:r>
              <a:rPr sz="1300" b="1" i="0">
                <a:solidFill>
                  <a:srgbClr val="074662"/>
                </a:solidFill>
                <a:latin typeface="Aptos"/>
              </a:rPr>
              <a:t>Deuxième partie</a:t>
            </a:r>
          </a:p>
        </p:txBody>
      </p:sp>
      <p:sp>
        <p:nvSpPr>
          <p:cNvPr id="25" name="TextBox 24"/>
          <p:cNvSpPr txBox="1"/>
          <p:nvPr/>
        </p:nvSpPr>
        <p:spPr>
          <a:xfrm>
            <a:off x="6583680" y="2011680"/>
            <a:ext cx="4507992" cy="3566160"/>
          </a:xfrm>
          <a:prstGeom prst="rect">
            <a:avLst/>
          </a:prstGeom>
          <a:noFill/>
        </p:spPr>
        <p:txBody>
          <a:bodyPr wrap="square">
            <a:spAutoFit/>
          </a:bodyPr>
          <a:lstStyle/>
          <a:p>
            <a:pPr>
              <a:spcAft>
                <a:spcPts val="500"/>
              </a:spcAft>
              <a:defRPr sz="1030">
                <a:solidFill>
                  <a:srgbClr val="053146"/>
                </a:solidFill>
                <a:latin typeface="Aptos"/>
              </a:defRPr>
            </a:pPr>
            <a:r>
              <a:t>Résultats et validation</a:t>
            </a:r>
          </a:p>
          <a:p>
            <a:pPr>
              <a:spcAft>
                <a:spcPts val="500"/>
              </a:spcAft>
              <a:defRPr sz="1030">
                <a:solidFill>
                  <a:srgbClr val="053146"/>
                </a:solidFill>
                <a:latin typeface="Aptos"/>
              </a:defRPr>
            </a:pPr>
            <a:r>
              <a:t>Entrepreneuriat : marché, BMC et modèle économique</a:t>
            </a:r>
          </a:p>
          <a:p>
            <a:pPr>
              <a:spcAft>
                <a:spcPts val="500"/>
              </a:spcAft>
              <a:defRPr sz="1030">
                <a:solidFill>
                  <a:srgbClr val="053146"/>
                </a:solidFill>
                <a:latin typeface="Aptos"/>
              </a:defRPr>
            </a:pPr>
            <a:r>
              <a:t>Gestion de projet : méthode, planning, risques et livrables</a:t>
            </a:r>
          </a:p>
          <a:p>
            <a:pPr>
              <a:spcAft>
                <a:spcPts val="500"/>
              </a:spcAft>
              <a:defRPr sz="1030">
                <a:solidFill>
                  <a:srgbClr val="053146"/>
                </a:solidFill>
                <a:latin typeface="Aptos"/>
              </a:defRPr>
            </a:pPr>
            <a:r>
              <a:t>Conclusion et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Equipe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Equipe du projet</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Membres et responsabilités principales</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Oussama Gammal</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Chef de projet</a:t>
            </a:r>
          </a:p>
          <a:p>
            <a:pPr>
              <a:spcAft>
                <a:spcPts val="500"/>
              </a:spcAft>
              <a:defRPr sz="1030">
                <a:solidFill>
                  <a:srgbClr val="053146"/>
                </a:solidFill>
                <a:latin typeface="Aptos"/>
              </a:defRPr>
            </a:pPr>
            <a:r>
              <a:t>Architecture Azure</a:t>
            </a:r>
          </a:p>
          <a:p>
            <a:pPr>
              <a:spcAft>
                <a:spcPts val="500"/>
              </a:spcAft>
              <a:defRPr sz="1030">
                <a:solidFill>
                  <a:srgbClr val="053146"/>
                </a:solidFill>
                <a:latin typeface="Aptos"/>
              </a:defRPr>
            </a:pPr>
            <a:r>
              <a:t>SIEM/SOAR, ML et documentation</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Chbane Labib Jad</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Contribution technique</a:t>
            </a:r>
          </a:p>
          <a:p>
            <a:pPr>
              <a:spcAft>
                <a:spcPts val="500"/>
              </a:spcAft>
              <a:defRPr sz="1030">
                <a:solidFill>
                  <a:srgbClr val="053146"/>
                </a:solidFill>
                <a:latin typeface="Aptos"/>
              </a:defRPr>
            </a:pPr>
            <a:r>
              <a:t>Validation fonctionnelle</a:t>
            </a:r>
          </a:p>
          <a:p>
            <a:pPr>
              <a:spcAft>
                <a:spcPts val="500"/>
              </a:spcAft>
              <a:defRPr sz="1030">
                <a:solidFill>
                  <a:srgbClr val="053146"/>
                </a:solidFill>
                <a:latin typeface="Aptos"/>
              </a:defRPr>
            </a:pPr>
            <a:r>
              <a:t>Support de conception</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Encadrement</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Suivi académique</a:t>
            </a:r>
          </a:p>
          <a:p>
            <a:pPr>
              <a:spcAft>
                <a:spcPts val="500"/>
              </a:spcAft>
              <a:defRPr sz="1030">
                <a:solidFill>
                  <a:srgbClr val="053146"/>
                </a:solidFill>
                <a:latin typeface="Aptos"/>
              </a:defRPr>
            </a:pPr>
            <a:r>
              <a:t>Validation des livrables</a:t>
            </a:r>
          </a:p>
          <a:p>
            <a:pPr>
              <a:spcAft>
                <a:spcPts val="500"/>
              </a:spcAft>
              <a:defRPr sz="1030">
                <a:solidFill>
                  <a:srgbClr val="053146"/>
                </a:solidFill>
                <a:latin typeface="Aptos"/>
              </a:defRPr>
            </a:pPr>
            <a:r>
              <a:t>Orientation méthodologique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Introduction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4</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Introduction générale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Pourquoi AITDR ?</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Les cyberattaques automatisées augmentent fortement dans les environnements cloud. Les solutions de défense traditionnelles restent souvent coûteuses, complexes et basées sur des règles statiques. AITDR propose une plateforme SOC cloud-native permettant de détecter, analyser et répondre aux menaces de manière rapide et automatisée.</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Surveillance continue des événements de sécurité.</a:t>
            </a:r>
          </a:p>
          <a:p>
            <a:pPr>
              <a:spcAft>
                <a:spcPts val="500"/>
              </a:spcAft>
              <a:defRPr sz="1030">
                <a:solidFill>
                  <a:srgbClr val="053146"/>
                </a:solidFill>
                <a:latin typeface="Aptos"/>
              </a:defRPr>
            </a:pPr>
            <a:r>
              <a:t>Centralisation des logs dans Azure.</a:t>
            </a:r>
          </a:p>
          <a:p>
            <a:pPr>
              <a:spcAft>
                <a:spcPts val="500"/>
              </a:spcAft>
              <a:defRPr sz="1030">
                <a:solidFill>
                  <a:srgbClr val="053146"/>
                </a:solidFill>
                <a:latin typeface="Aptos"/>
              </a:defRPr>
            </a:pPr>
            <a:r>
              <a:t>Réponse automatisée aux incidents critiques.</a:t>
            </a:r>
          </a:p>
          <a:p>
            <a:pPr>
              <a:spcAft>
                <a:spcPts val="500"/>
              </a:spcAft>
              <a:defRPr sz="1030">
                <a:solidFill>
                  <a:srgbClr val="053146"/>
                </a:solidFill>
                <a:latin typeface="Aptos"/>
              </a:defRPr>
            </a:pPr>
            <a:r>
              <a:t>Maîtrise du coût dans un budget initial limité.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Contexte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5</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Contexte et problématique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Un besoin de cybersécurité accessible</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De nombreuses PME ne disposent pas d'un SOC interne et ne peuvent pas financer des solutions SIEM/SOAR professionnelles très coûteuses. Pourtant, elles sont exposées aux attaques automatisées, aux scans, aux tentatives SSH et aux vulnérabilités applicatives.</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Manque de visibilité sur les attaques en temps réel.</a:t>
            </a:r>
          </a:p>
          <a:p>
            <a:pPr>
              <a:spcAft>
                <a:spcPts val="500"/>
              </a:spcAft>
              <a:defRPr sz="1030">
                <a:solidFill>
                  <a:srgbClr val="053146"/>
                </a:solidFill>
                <a:latin typeface="Aptos"/>
              </a:defRPr>
            </a:pPr>
            <a:r>
              <a:t>Temps de détection et de réponse trop élevé.</a:t>
            </a:r>
          </a:p>
          <a:p>
            <a:pPr>
              <a:spcAft>
                <a:spcPts val="500"/>
              </a:spcAft>
              <a:defRPr sz="1030">
                <a:solidFill>
                  <a:srgbClr val="053146"/>
                </a:solidFill>
                <a:latin typeface="Aptos"/>
              </a:defRPr>
            </a:pPr>
            <a:r>
              <a:t>Difficulté à déployer une architecture sécurisée et reproductible.</a:t>
            </a:r>
          </a:p>
          <a:p>
            <a:pPr>
              <a:spcAft>
                <a:spcPts val="500"/>
              </a:spcAft>
              <a:defRPr sz="1030">
                <a:solidFill>
                  <a:srgbClr val="053146"/>
                </a:solidFill>
                <a:latin typeface="Aptos"/>
              </a:defRPr>
            </a:pPr>
            <a:r>
              <a:t>Contraintes fortes de budget et de compétences.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Objectifs</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6</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Objectifs du projet</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Les objectifs techniques et opérationnels d'AITDR</a:t>
            </a:r>
          </a:p>
        </p:txBody>
      </p:sp>
      <p:sp>
        <p:nvSpPr>
          <p:cNvPr id="18" name="Rounded Rectangle 17"/>
          <p:cNvSpPr/>
          <p:nvPr/>
        </p:nvSpPr>
        <p:spPr>
          <a:xfrm>
            <a:off x="658368" y="1572768"/>
            <a:ext cx="2512313"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2183129" cy="274320"/>
          </a:xfrm>
          <a:prstGeom prst="rect">
            <a:avLst/>
          </a:prstGeom>
          <a:noFill/>
        </p:spPr>
        <p:txBody>
          <a:bodyPr wrap="square" lIns="0" rIns="0" tIns="0" bIns="0">
            <a:spAutoFit/>
          </a:bodyPr>
          <a:lstStyle/>
          <a:p>
            <a:pPr algn="l"/>
            <a:r>
              <a:rPr sz="1300" b="1" i="0">
                <a:solidFill>
                  <a:srgbClr val="074662"/>
                </a:solidFill>
                <a:latin typeface="Aptos"/>
              </a:rPr>
              <a:t>Déployer</a:t>
            </a:r>
          </a:p>
        </p:txBody>
      </p:sp>
      <p:sp>
        <p:nvSpPr>
          <p:cNvPr id="21" name="TextBox 20"/>
          <p:cNvSpPr txBox="1"/>
          <p:nvPr/>
        </p:nvSpPr>
        <p:spPr>
          <a:xfrm>
            <a:off x="886968" y="2167128"/>
            <a:ext cx="2128265" cy="3063240"/>
          </a:xfrm>
          <a:prstGeom prst="rect">
            <a:avLst/>
          </a:prstGeom>
          <a:noFill/>
        </p:spPr>
        <p:txBody>
          <a:bodyPr wrap="square">
            <a:spAutoFit/>
          </a:bodyPr>
          <a:lstStyle/>
          <a:p>
            <a:pPr>
              <a:spcAft>
                <a:spcPts val="500"/>
              </a:spcAft>
              <a:defRPr sz="1030">
                <a:solidFill>
                  <a:srgbClr val="053146"/>
                </a:solidFill>
                <a:latin typeface="Aptos"/>
              </a:defRPr>
            </a:pPr>
            <a:r>
              <a:t>Infrastructure Azure segmentée</a:t>
            </a:r>
          </a:p>
          <a:p>
            <a:pPr>
              <a:spcAft>
                <a:spcPts val="500"/>
              </a:spcAft>
              <a:defRPr sz="1030">
                <a:solidFill>
                  <a:srgbClr val="053146"/>
                </a:solidFill>
                <a:latin typeface="Aptos"/>
              </a:defRPr>
            </a:pPr>
            <a:r>
              <a:t>Terraform et Infrastructure as Code</a:t>
            </a:r>
          </a:p>
          <a:p>
            <a:pPr>
              <a:spcAft>
                <a:spcPts val="500"/>
              </a:spcAft>
              <a:defRPr sz="1030">
                <a:solidFill>
                  <a:srgbClr val="053146"/>
                </a:solidFill>
                <a:latin typeface="Aptos"/>
              </a:defRPr>
            </a:pPr>
            <a:r>
              <a:t>Réseau Hub-and-Spoke</a:t>
            </a:r>
          </a:p>
        </p:txBody>
      </p:sp>
      <p:sp>
        <p:nvSpPr>
          <p:cNvPr id="22" name="Rounded Rectangle 21"/>
          <p:cNvSpPr/>
          <p:nvPr/>
        </p:nvSpPr>
        <p:spPr>
          <a:xfrm>
            <a:off x="3463289" y="1572768"/>
            <a:ext cx="2512313"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63289"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64457" y="1737360"/>
            <a:ext cx="2183129" cy="274320"/>
          </a:xfrm>
          <a:prstGeom prst="rect">
            <a:avLst/>
          </a:prstGeom>
          <a:noFill/>
        </p:spPr>
        <p:txBody>
          <a:bodyPr wrap="square" lIns="0" rIns="0" tIns="0" bIns="0">
            <a:spAutoFit/>
          </a:bodyPr>
          <a:lstStyle/>
          <a:p>
            <a:pPr algn="l"/>
            <a:r>
              <a:rPr sz="1300" b="1" i="0">
                <a:solidFill>
                  <a:srgbClr val="074662"/>
                </a:solidFill>
                <a:latin typeface="Aptos"/>
              </a:rPr>
              <a:t>Détecter</a:t>
            </a:r>
          </a:p>
        </p:txBody>
      </p:sp>
      <p:sp>
        <p:nvSpPr>
          <p:cNvPr id="25" name="TextBox 24"/>
          <p:cNvSpPr txBox="1"/>
          <p:nvPr/>
        </p:nvSpPr>
        <p:spPr>
          <a:xfrm>
            <a:off x="3691889" y="2167128"/>
            <a:ext cx="2128265" cy="3063240"/>
          </a:xfrm>
          <a:prstGeom prst="rect">
            <a:avLst/>
          </a:prstGeom>
          <a:noFill/>
        </p:spPr>
        <p:txBody>
          <a:bodyPr wrap="square">
            <a:spAutoFit/>
          </a:bodyPr>
          <a:lstStyle/>
          <a:p>
            <a:pPr>
              <a:spcAft>
                <a:spcPts val="500"/>
              </a:spcAft>
              <a:defRPr sz="1030">
                <a:solidFill>
                  <a:srgbClr val="053146"/>
                </a:solidFill>
                <a:latin typeface="Aptos"/>
              </a:defRPr>
            </a:pPr>
            <a:r>
              <a:t>Honeypot DVWA</a:t>
            </a:r>
          </a:p>
          <a:p>
            <a:pPr>
              <a:spcAft>
                <a:spcPts val="500"/>
              </a:spcAft>
              <a:defRPr sz="1030">
                <a:solidFill>
                  <a:srgbClr val="053146"/>
                </a:solidFill>
                <a:latin typeface="Aptos"/>
              </a:defRPr>
            </a:pPr>
            <a:r>
              <a:t>Suricata IDS</a:t>
            </a:r>
          </a:p>
          <a:p>
            <a:pPr>
              <a:spcAft>
                <a:spcPts val="500"/>
              </a:spcAft>
              <a:defRPr sz="1030">
                <a:solidFill>
                  <a:srgbClr val="053146"/>
                </a:solidFill>
                <a:latin typeface="Aptos"/>
              </a:defRPr>
            </a:pPr>
            <a:r>
              <a:t>Règles KQL Sentinel</a:t>
            </a:r>
          </a:p>
        </p:txBody>
      </p:sp>
      <p:sp>
        <p:nvSpPr>
          <p:cNvPr id="26" name="Rounded Rectangle 25"/>
          <p:cNvSpPr/>
          <p:nvPr/>
        </p:nvSpPr>
        <p:spPr>
          <a:xfrm>
            <a:off x="6268211" y="1572768"/>
            <a:ext cx="2512313"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8211"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9379" y="1737360"/>
            <a:ext cx="2183129" cy="274320"/>
          </a:xfrm>
          <a:prstGeom prst="rect">
            <a:avLst/>
          </a:prstGeom>
          <a:noFill/>
        </p:spPr>
        <p:txBody>
          <a:bodyPr wrap="square" lIns="0" rIns="0" tIns="0" bIns="0">
            <a:spAutoFit/>
          </a:bodyPr>
          <a:lstStyle/>
          <a:p>
            <a:pPr algn="l"/>
            <a:r>
              <a:rPr sz="1300" b="1" i="0">
                <a:solidFill>
                  <a:srgbClr val="074662"/>
                </a:solidFill>
                <a:latin typeface="Aptos"/>
              </a:rPr>
              <a:t>Répondre</a:t>
            </a:r>
          </a:p>
        </p:txBody>
      </p:sp>
      <p:sp>
        <p:nvSpPr>
          <p:cNvPr id="29" name="TextBox 28"/>
          <p:cNvSpPr txBox="1"/>
          <p:nvPr/>
        </p:nvSpPr>
        <p:spPr>
          <a:xfrm>
            <a:off x="6496811" y="2167128"/>
            <a:ext cx="2128265" cy="3063240"/>
          </a:xfrm>
          <a:prstGeom prst="rect">
            <a:avLst/>
          </a:prstGeom>
          <a:noFill/>
        </p:spPr>
        <p:txBody>
          <a:bodyPr wrap="square">
            <a:spAutoFit/>
          </a:bodyPr>
          <a:lstStyle/>
          <a:p>
            <a:pPr>
              <a:spcAft>
                <a:spcPts val="500"/>
              </a:spcAft>
              <a:defRPr sz="1030">
                <a:solidFill>
                  <a:srgbClr val="053146"/>
                </a:solidFill>
                <a:latin typeface="Aptos"/>
              </a:defRPr>
            </a:pPr>
            <a:r>
              <a:t>Logic Apps SOAR</a:t>
            </a:r>
          </a:p>
          <a:p>
            <a:pPr>
              <a:spcAft>
                <a:spcPts val="500"/>
              </a:spcAft>
              <a:defRPr sz="1030">
                <a:solidFill>
                  <a:srgbClr val="053146"/>
                </a:solidFill>
                <a:latin typeface="Aptos"/>
              </a:defRPr>
            </a:pPr>
            <a:r>
              <a:t>Blocage IP automatique</a:t>
            </a:r>
          </a:p>
          <a:p>
            <a:pPr>
              <a:spcAft>
                <a:spcPts val="500"/>
              </a:spcAft>
              <a:defRPr sz="1030">
                <a:solidFill>
                  <a:srgbClr val="053146"/>
                </a:solidFill>
                <a:latin typeface="Aptos"/>
              </a:defRPr>
            </a:pPr>
            <a:r>
              <a:t>Alertes et confinement rapide</a:t>
            </a:r>
          </a:p>
        </p:txBody>
      </p:sp>
      <p:sp>
        <p:nvSpPr>
          <p:cNvPr id="30" name="Rounded Rectangle 29"/>
          <p:cNvSpPr/>
          <p:nvPr/>
        </p:nvSpPr>
        <p:spPr>
          <a:xfrm>
            <a:off x="9073134" y="1572768"/>
            <a:ext cx="2512313"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73134"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74302" y="1737360"/>
            <a:ext cx="2183129" cy="274320"/>
          </a:xfrm>
          <a:prstGeom prst="rect">
            <a:avLst/>
          </a:prstGeom>
          <a:noFill/>
        </p:spPr>
        <p:txBody>
          <a:bodyPr wrap="square" lIns="0" rIns="0" tIns="0" bIns="0">
            <a:spAutoFit/>
          </a:bodyPr>
          <a:lstStyle/>
          <a:p>
            <a:pPr algn="l"/>
            <a:r>
              <a:rPr sz="1300" b="1" i="0">
                <a:solidFill>
                  <a:srgbClr val="074662"/>
                </a:solidFill>
                <a:latin typeface="Aptos"/>
              </a:rPr>
              <a:t>Analyser</a:t>
            </a:r>
          </a:p>
        </p:txBody>
      </p:sp>
      <p:sp>
        <p:nvSpPr>
          <p:cNvPr id="33" name="TextBox 32"/>
          <p:cNvSpPr txBox="1"/>
          <p:nvPr/>
        </p:nvSpPr>
        <p:spPr>
          <a:xfrm>
            <a:off x="9301734" y="2167128"/>
            <a:ext cx="2128265" cy="3063240"/>
          </a:xfrm>
          <a:prstGeom prst="rect">
            <a:avLst/>
          </a:prstGeom>
          <a:noFill/>
        </p:spPr>
        <p:txBody>
          <a:bodyPr wrap="square">
            <a:spAutoFit/>
          </a:bodyPr>
          <a:lstStyle/>
          <a:p>
            <a:pPr>
              <a:spcAft>
                <a:spcPts val="500"/>
              </a:spcAft>
              <a:defRPr sz="1030">
                <a:solidFill>
                  <a:srgbClr val="053146"/>
                </a:solidFill>
                <a:latin typeface="Aptos"/>
              </a:defRPr>
            </a:pPr>
            <a:r>
              <a:t>Pipeline ETL</a:t>
            </a:r>
          </a:p>
          <a:p>
            <a:pPr>
              <a:spcAft>
                <a:spcPts val="500"/>
              </a:spcAft>
              <a:defRPr sz="1030">
                <a:solidFill>
                  <a:srgbClr val="053146"/>
                </a:solidFill>
                <a:latin typeface="Aptos"/>
              </a:defRPr>
            </a:pPr>
            <a:r>
              <a:t>SQL Database</a:t>
            </a:r>
          </a:p>
          <a:p>
            <a:pPr>
              <a:spcAft>
                <a:spcPts val="500"/>
              </a:spcAft>
              <a:defRPr sz="1030">
                <a:solidFill>
                  <a:srgbClr val="053146"/>
                </a:solidFill>
                <a:latin typeface="Aptos"/>
              </a:defRPr>
            </a:pPr>
            <a:r>
              <a:t>Machine Learning et Power BI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Architecture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7</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Architecture globale AITDR</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Topologie Hub-and-Spoke sur Microsoft Azure</a:t>
            </a:r>
          </a:p>
        </p:txBody>
      </p:sp>
      <p:sp>
        <p:nvSpPr>
          <p:cNvPr id="18" name="Rounded Rectangle 17"/>
          <p:cNvSpPr/>
          <p:nvPr/>
        </p:nvSpPr>
        <p:spPr>
          <a:xfrm>
            <a:off x="685800" y="2148840"/>
            <a:ext cx="1911095" cy="1417320"/>
          </a:xfrm>
          <a:prstGeom prst="roundRect">
            <a:avLst/>
          </a:prstGeom>
          <a:solidFill>
            <a:srgbClr val="F2F7F9"/>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313432"/>
            <a:ext cx="1728216" cy="228600"/>
          </a:xfrm>
          <a:prstGeom prst="rect">
            <a:avLst/>
          </a:prstGeom>
          <a:noFill/>
        </p:spPr>
        <p:txBody>
          <a:bodyPr wrap="square" lIns="0" rIns="0" tIns="0" bIns="0">
            <a:spAutoFit/>
          </a:bodyPr>
          <a:lstStyle/>
          <a:p>
            <a:pPr algn="ctr"/>
            <a:r>
              <a:rPr sz="1100" b="1" i="0">
                <a:solidFill>
                  <a:srgbClr val="1870A0"/>
                </a:solidFill>
                <a:latin typeface="Aptos"/>
              </a:rPr>
              <a:t>On-premises</a:t>
            </a:r>
          </a:p>
        </p:txBody>
      </p:sp>
      <p:sp>
        <p:nvSpPr>
          <p:cNvPr id="20" name="TextBox 19"/>
          <p:cNvSpPr txBox="1"/>
          <p:nvPr/>
        </p:nvSpPr>
        <p:spPr>
          <a:xfrm>
            <a:off x="795528" y="2679192"/>
            <a:ext cx="1691639" cy="594360"/>
          </a:xfrm>
          <a:prstGeom prst="rect">
            <a:avLst/>
          </a:prstGeom>
          <a:noFill/>
        </p:spPr>
        <p:txBody>
          <a:bodyPr wrap="square" lIns="0" rIns="0" tIns="0" bIns="0">
            <a:spAutoFit/>
          </a:bodyPr>
          <a:lstStyle/>
          <a:p>
            <a:pPr algn="ctr"/>
            <a:r>
              <a:rPr sz="880" b="0" i="0">
                <a:solidFill>
                  <a:srgbClr val="053146"/>
                </a:solidFill>
                <a:latin typeface="Aptos"/>
              </a:rPr>
              <a:t>Kali / Windows
Génération de logs</a:t>
            </a:r>
          </a:p>
        </p:txBody>
      </p:sp>
      <p:sp>
        <p:nvSpPr>
          <p:cNvPr id="21" name="Right Arrow 20"/>
          <p:cNvSpPr/>
          <p:nvPr/>
        </p:nvSpPr>
        <p:spPr>
          <a:xfrm>
            <a:off x="2569464"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16936" y="2148840"/>
            <a:ext cx="1911095" cy="1417320"/>
          </a:xfrm>
          <a:prstGeom prst="roundRect">
            <a:avLst/>
          </a:prstGeom>
          <a:solidFill>
            <a:srgbClr val="F2F7F9"/>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08376" y="2313432"/>
            <a:ext cx="1728216" cy="228600"/>
          </a:xfrm>
          <a:prstGeom prst="rect">
            <a:avLst/>
          </a:prstGeom>
          <a:noFill/>
        </p:spPr>
        <p:txBody>
          <a:bodyPr wrap="square" lIns="0" rIns="0" tIns="0" bIns="0">
            <a:spAutoFit/>
          </a:bodyPr>
          <a:lstStyle/>
          <a:p>
            <a:pPr algn="ctr"/>
            <a:r>
              <a:rPr sz="1100" b="1" i="0">
                <a:solidFill>
                  <a:srgbClr val="E08E2C"/>
                </a:solidFill>
                <a:latin typeface="Aptos"/>
              </a:rPr>
              <a:t>DMZ</a:t>
            </a:r>
          </a:p>
        </p:txBody>
      </p:sp>
      <p:sp>
        <p:nvSpPr>
          <p:cNvPr id="24" name="TextBox 23"/>
          <p:cNvSpPr txBox="1"/>
          <p:nvPr/>
        </p:nvSpPr>
        <p:spPr>
          <a:xfrm>
            <a:off x="3026664" y="2679192"/>
            <a:ext cx="1691639" cy="594360"/>
          </a:xfrm>
          <a:prstGeom prst="rect">
            <a:avLst/>
          </a:prstGeom>
          <a:noFill/>
        </p:spPr>
        <p:txBody>
          <a:bodyPr wrap="square" lIns="0" rIns="0" tIns="0" bIns="0">
            <a:spAutoFit/>
          </a:bodyPr>
          <a:lstStyle/>
          <a:p>
            <a:pPr algn="ctr"/>
            <a:r>
              <a:rPr sz="880" b="0" i="0">
                <a:solidFill>
                  <a:srgbClr val="053146"/>
                </a:solidFill>
                <a:latin typeface="Aptos"/>
              </a:rPr>
              <a:t>VM1 + DVWA
Suricata IDS</a:t>
            </a:r>
          </a:p>
        </p:txBody>
      </p:sp>
      <p:sp>
        <p:nvSpPr>
          <p:cNvPr id="25" name="Right Arrow 24"/>
          <p:cNvSpPr/>
          <p:nvPr/>
        </p:nvSpPr>
        <p:spPr>
          <a:xfrm>
            <a:off x="4800599"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148072" y="2148840"/>
            <a:ext cx="1911095" cy="1417320"/>
          </a:xfrm>
          <a:prstGeom prst="roundRect">
            <a:avLst/>
          </a:prstGeom>
          <a:solidFill>
            <a:srgbClr val="F2F7F9"/>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39512" y="2313432"/>
            <a:ext cx="1728216" cy="228600"/>
          </a:xfrm>
          <a:prstGeom prst="rect">
            <a:avLst/>
          </a:prstGeom>
          <a:noFill/>
        </p:spPr>
        <p:txBody>
          <a:bodyPr wrap="square" lIns="0" rIns="0" tIns="0" bIns="0">
            <a:spAutoFit/>
          </a:bodyPr>
          <a:lstStyle/>
          <a:p>
            <a:pPr algn="ctr"/>
            <a:r>
              <a:rPr sz="1100" b="1" i="0">
                <a:solidFill>
                  <a:srgbClr val="1AA09E"/>
                </a:solidFill>
                <a:latin typeface="Aptos"/>
              </a:rPr>
              <a:t>Data</a:t>
            </a:r>
          </a:p>
        </p:txBody>
      </p:sp>
      <p:sp>
        <p:nvSpPr>
          <p:cNvPr id="28" name="TextBox 27"/>
          <p:cNvSpPr txBox="1"/>
          <p:nvPr/>
        </p:nvSpPr>
        <p:spPr>
          <a:xfrm>
            <a:off x="5257800" y="2679192"/>
            <a:ext cx="1691639" cy="594360"/>
          </a:xfrm>
          <a:prstGeom prst="rect">
            <a:avLst/>
          </a:prstGeom>
          <a:noFill/>
        </p:spPr>
        <p:txBody>
          <a:bodyPr wrap="square" lIns="0" rIns="0" tIns="0" bIns="0">
            <a:spAutoFit/>
          </a:bodyPr>
          <a:lstStyle/>
          <a:p>
            <a:pPr algn="ctr"/>
            <a:r>
              <a:rPr sz="880" b="0" i="0">
                <a:solidFill>
                  <a:srgbClr val="053146"/>
                </a:solidFill>
                <a:latin typeface="Aptos"/>
              </a:rPr>
              <a:t>SQL Database
Blob Storage</a:t>
            </a:r>
          </a:p>
        </p:txBody>
      </p:sp>
      <p:sp>
        <p:nvSpPr>
          <p:cNvPr id="29" name="Right Arrow 28"/>
          <p:cNvSpPr/>
          <p:nvPr/>
        </p:nvSpPr>
        <p:spPr>
          <a:xfrm>
            <a:off x="7031736"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79208" y="2148840"/>
            <a:ext cx="1911095" cy="1417320"/>
          </a:xfrm>
          <a:prstGeom prst="roundRect">
            <a:avLst/>
          </a:prstGeom>
          <a:solidFill>
            <a:srgbClr val="F2F7F9"/>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0648" y="2313432"/>
            <a:ext cx="1728216" cy="228600"/>
          </a:xfrm>
          <a:prstGeom prst="rect">
            <a:avLst/>
          </a:prstGeom>
          <a:noFill/>
        </p:spPr>
        <p:txBody>
          <a:bodyPr wrap="square" lIns="0" rIns="0" tIns="0" bIns="0">
            <a:spAutoFit/>
          </a:bodyPr>
          <a:lstStyle/>
          <a:p>
            <a:pPr algn="ctr"/>
            <a:r>
              <a:rPr sz="1100" b="1" i="0">
                <a:solidFill>
                  <a:srgbClr val="309C58"/>
                </a:solidFill>
                <a:latin typeface="Aptos"/>
              </a:rPr>
              <a:t>SIEM/SOAR</a:t>
            </a:r>
          </a:p>
        </p:txBody>
      </p:sp>
      <p:sp>
        <p:nvSpPr>
          <p:cNvPr id="32" name="TextBox 31"/>
          <p:cNvSpPr txBox="1"/>
          <p:nvPr/>
        </p:nvSpPr>
        <p:spPr>
          <a:xfrm>
            <a:off x="7488936" y="2679192"/>
            <a:ext cx="1691639" cy="594360"/>
          </a:xfrm>
          <a:prstGeom prst="rect">
            <a:avLst/>
          </a:prstGeom>
          <a:noFill/>
        </p:spPr>
        <p:txBody>
          <a:bodyPr wrap="square" lIns="0" rIns="0" tIns="0" bIns="0">
            <a:spAutoFit/>
          </a:bodyPr>
          <a:lstStyle/>
          <a:p>
            <a:pPr algn="ctr"/>
            <a:r>
              <a:rPr sz="880" b="0" i="0">
                <a:solidFill>
                  <a:srgbClr val="053146"/>
                </a:solidFill>
                <a:latin typeface="Aptos"/>
              </a:rPr>
              <a:t>Sentinel
Logic Apps + ML</a:t>
            </a:r>
          </a:p>
        </p:txBody>
      </p:sp>
      <p:sp>
        <p:nvSpPr>
          <p:cNvPr id="33" name="Right Arrow 32"/>
          <p:cNvSpPr/>
          <p:nvPr/>
        </p:nvSpPr>
        <p:spPr>
          <a:xfrm>
            <a:off x="9262872"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10344" y="2148840"/>
            <a:ext cx="1911095" cy="1417320"/>
          </a:xfrm>
          <a:prstGeom prst="roundRect">
            <a:avLst/>
          </a:prstGeom>
          <a:solidFill>
            <a:srgbClr val="F2F7F9"/>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01784" y="2313432"/>
            <a:ext cx="1728216" cy="228600"/>
          </a:xfrm>
          <a:prstGeom prst="rect">
            <a:avLst/>
          </a:prstGeom>
          <a:noFill/>
        </p:spPr>
        <p:txBody>
          <a:bodyPr wrap="square" lIns="0" rIns="0" tIns="0" bIns="0">
            <a:spAutoFit/>
          </a:bodyPr>
          <a:lstStyle/>
          <a:p>
            <a:pPr algn="ctr"/>
            <a:r>
              <a:rPr sz="1100" b="1" i="0">
                <a:solidFill>
                  <a:srgbClr val="1870A0"/>
                </a:solidFill>
                <a:latin typeface="Aptos"/>
              </a:rPr>
              <a:t>Visualisation</a:t>
            </a:r>
          </a:p>
        </p:txBody>
      </p:sp>
      <p:sp>
        <p:nvSpPr>
          <p:cNvPr id="36" name="TextBox 35"/>
          <p:cNvSpPr txBox="1"/>
          <p:nvPr/>
        </p:nvSpPr>
        <p:spPr>
          <a:xfrm>
            <a:off x="9720072" y="2679192"/>
            <a:ext cx="1691639" cy="594360"/>
          </a:xfrm>
          <a:prstGeom prst="rect">
            <a:avLst/>
          </a:prstGeom>
          <a:noFill/>
        </p:spPr>
        <p:txBody>
          <a:bodyPr wrap="square" lIns="0" rIns="0" tIns="0" bIns="0">
            <a:spAutoFit/>
          </a:bodyPr>
          <a:lstStyle/>
          <a:p>
            <a:pPr algn="ctr"/>
            <a:r>
              <a:rPr sz="880" b="0" i="0">
                <a:solidFill>
                  <a:srgbClr val="053146"/>
                </a:solidFill>
                <a:latin typeface="Aptos"/>
              </a:rPr>
              <a:t>Power BI
Reporting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Architecture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8</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Partie on-premises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Simulation et génération des événements</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La partie on-premises représente l'environnement local utilisé pour simuler des activités normales et malveillantes. Kali Linux permet de générer des scénarios d'attaque, tandis que Windows Server joue un rôle de machine interne produisant des journaux.</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Simulation d'attaques contrôlées.</a:t>
            </a:r>
          </a:p>
          <a:p>
            <a:pPr>
              <a:spcAft>
                <a:spcPts val="500"/>
              </a:spcAft>
              <a:defRPr sz="1030">
                <a:solidFill>
                  <a:srgbClr val="053146"/>
                </a:solidFill>
                <a:latin typeface="Aptos"/>
              </a:defRPr>
            </a:pPr>
            <a:r>
              <a:t>Génération d'événements de sécurité.</a:t>
            </a:r>
          </a:p>
          <a:p>
            <a:pPr>
              <a:spcAft>
                <a:spcPts val="500"/>
              </a:spcAft>
              <a:defRPr sz="1030">
                <a:solidFill>
                  <a:srgbClr val="053146"/>
                </a:solidFill>
                <a:latin typeface="Aptos"/>
              </a:defRPr>
            </a:pPr>
            <a:r>
              <a:t>Transmission sécurisée vers Azure via VPN.</a:t>
            </a:r>
          </a:p>
          <a:p>
            <a:pPr>
              <a:spcAft>
                <a:spcPts val="500"/>
              </a:spcAft>
              <a:defRPr sz="1030">
                <a:solidFill>
                  <a:srgbClr val="053146"/>
                </a:solidFill>
                <a:latin typeface="Aptos"/>
              </a:defRPr>
            </a:pPr>
            <a:r>
              <a:t>Validation du pipeline de supervision.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Infrastructure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9</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Partie DMZ et ressources Azure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Zone exposée et surveillée</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2708910"/>
                <a:gridCol w="2708910"/>
                <a:gridCol w="2708910"/>
                <a:gridCol w="2708910"/>
              </a:tblGrid>
              <a:tr h="723900">
                <a:tc>
                  <a:txBody>
                    <a:bodyPr/>
                    <a:lstStyle/>
                    <a:p>
                      <a:pPr>
                        <a:defRPr sz="850" b="1">
                          <a:solidFill>
                            <a:srgbClr val="FFFFFF"/>
                          </a:solidFill>
                          <a:latin typeface="Aptos"/>
                        </a:defRPr>
                      </a:pPr>
                      <a:r>
                        <a:t>Ressource</a:t>
                      </a:r>
                    </a:p>
                  </a:txBody>
                  <a:tcPr marL="54864" marR="54864" marT="36576" marB="36576">
                    <a:solidFill>
                      <a:srgbClr val="074662"/>
                    </a:solidFill>
                  </a:tcPr>
                </a:tc>
                <a:tc>
                  <a:txBody>
                    <a:bodyPr/>
                    <a:lstStyle/>
                    <a:p>
                      <a:pPr>
                        <a:defRPr sz="850" b="1">
                          <a:solidFill>
                            <a:srgbClr val="FFFFFF"/>
                          </a:solidFill>
                          <a:latin typeface="Aptos"/>
                        </a:defRPr>
                      </a:pPr>
                      <a:r>
                        <a:t>Service</a:t>
                      </a:r>
                    </a:p>
                  </a:txBody>
                  <a:tcPr marL="54864" marR="54864" marT="36576" marB="36576">
                    <a:solidFill>
                      <a:srgbClr val="074662"/>
                    </a:solidFill>
                  </a:tcPr>
                </a:tc>
                <a:tc>
                  <a:txBody>
                    <a:bodyPr/>
                    <a:lstStyle/>
                    <a:p>
                      <a:pPr>
                        <a:defRPr sz="850" b="1">
                          <a:solidFill>
                            <a:srgbClr val="FFFFFF"/>
                          </a:solidFill>
                          <a:latin typeface="Aptos"/>
                        </a:defRPr>
                      </a:pPr>
                      <a:r>
                        <a:t>Rôle</a:t>
                      </a:r>
                    </a:p>
                  </a:txBody>
                  <a:tcPr marL="54864" marR="54864" marT="36576" marB="36576">
                    <a:solidFill>
                      <a:srgbClr val="074662"/>
                    </a:solidFill>
                  </a:tcPr>
                </a:tc>
                <a:tc>
                  <a:txBody>
                    <a:bodyPr/>
                    <a:lstStyle/>
                    <a:p>
                      <a:pPr>
                        <a:defRPr sz="850" b="1">
                          <a:solidFill>
                            <a:srgbClr val="FFFFFF"/>
                          </a:solidFill>
                          <a:latin typeface="Aptos"/>
                        </a:defRPr>
                      </a:pPr>
                      <a:r>
                        <a:t>Coût estimé</a:t>
                      </a:r>
                    </a:p>
                  </a:txBody>
                  <a:tcPr marL="54864" marR="54864" marT="36576" marB="36576">
                    <a:solidFill>
                      <a:srgbClr val="074662"/>
                    </a:solidFill>
                  </a:tcPr>
                </a:tc>
              </a:tr>
              <a:tr h="723900">
                <a:tc>
                  <a:txBody>
                    <a:bodyPr/>
                    <a:lstStyle/>
                    <a:p>
                      <a:pPr>
                        <a:defRPr sz="850" b="0">
                          <a:solidFill>
                            <a:srgbClr val="053146"/>
                          </a:solidFill>
                          <a:latin typeface="Aptos"/>
                        </a:defRPr>
                      </a:pPr>
                      <a:r>
                        <a:t>VNet DMZ</a:t>
                      </a:r>
                    </a:p>
                  </a:txBody>
                  <a:tcPr marL="54864" marR="54864" marT="36576" marB="36576">
                    <a:solidFill>
                      <a:srgbClr val="FFFFFF"/>
                    </a:solidFill>
                  </a:tcPr>
                </a:tc>
                <a:tc>
                  <a:txBody>
                    <a:bodyPr/>
                    <a:lstStyle/>
                    <a:p>
                      <a:pPr>
                        <a:defRPr sz="850" b="0">
                          <a:solidFill>
                            <a:srgbClr val="053146"/>
                          </a:solidFill>
                          <a:latin typeface="Aptos"/>
                        </a:defRPr>
                      </a:pPr>
                      <a:r>
                        <a:t>Azure VNet</a:t>
                      </a:r>
                    </a:p>
                  </a:txBody>
                  <a:tcPr marL="54864" marR="54864" marT="36576" marB="36576">
                    <a:solidFill>
                      <a:srgbClr val="FFFFFF"/>
                    </a:solidFill>
                  </a:tcPr>
                </a:tc>
                <a:tc>
                  <a:txBody>
                    <a:bodyPr/>
                    <a:lstStyle/>
                    <a:p>
                      <a:pPr>
                        <a:defRPr sz="850" b="0">
                          <a:solidFill>
                            <a:srgbClr val="053146"/>
                          </a:solidFill>
                          <a:latin typeface="Aptos"/>
                        </a:defRPr>
                      </a:pPr>
                      <a:r>
                        <a:t>Isolation réseau</a:t>
                      </a:r>
                    </a:p>
                  </a:txBody>
                  <a:tcPr marL="54864" marR="54864" marT="36576" marB="36576">
                    <a:solidFill>
                      <a:srgbClr val="FFFFFF"/>
                    </a:solidFill>
                  </a:tcPr>
                </a:tc>
                <a:tc>
                  <a:txBody>
                    <a:bodyPr/>
                    <a:lstStyle/>
                    <a:p>
                      <a:pPr>
                        <a:defRPr sz="850" b="0">
                          <a:solidFill>
                            <a:srgbClr val="053146"/>
                          </a:solidFill>
                          <a:latin typeface="Aptos"/>
                        </a:defRPr>
                      </a:pPr>
                      <a:r>
                        <a:t>Gratuit</a:t>
                      </a:r>
                    </a:p>
                  </a:txBody>
                  <a:tcPr marL="54864" marR="54864" marT="36576" marB="36576">
                    <a:solidFill>
                      <a:srgbClr val="FFFFFF"/>
                    </a:solidFill>
                  </a:tcPr>
                </a:tc>
              </a:tr>
              <a:tr h="723900">
                <a:tc>
                  <a:txBody>
                    <a:bodyPr/>
                    <a:lstStyle/>
                    <a:p>
                      <a:pPr>
                        <a:defRPr sz="850" b="0">
                          <a:solidFill>
                            <a:srgbClr val="053146"/>
                          </a:solidFill>
                          <a:latin typeface="Aptos"/>
                        </a:defRPr>
                      </a:pPr>
                      <a:r>
                        <a:t>NSG</a:t>
                      </a:r>
                    </a:p>
                  </a:txBody>
                  <a:tcPr marL="54864" marR="54864" marT="36576" marB="36576">
                    <a:solidFill>
                      <a:srgbClr val="F2F7F9"/>
                    </a:solidFill>
                  </a:tcPr>
                </a:tc>
                <a:tc>
                  <a:txBody>
                    <a:bodyPr/>
                    <a:lstStyle/>
                    <a:p>
                      <a:pPr>
                        <a:defRPr sz="850" b="0">
                          <a:solidFill>
                            <a:srgbClr val="053146"/>
                          </a:solidFill>
                          <a:latin typeface="Aptos"/>
                        </a:defRPr>
                      </a:pPr>
                      <a:r>
                        <a:t>Network Security Group</a:t>
                      </a:r>
                    </a:p>
                  </a:txBody>
                  <a:tcPr marL="54864" marR="54864" marT="36576" marB="36576">
                    <a:solidFill>
                      <a:srgbClr val="F2F7F9"/>
                    </a:solidFill>
                  </a:tcPr>
                </a:tc>
                <a:tc>
                  <a:txBody>
                    <a:bodyPr/>
                    <a:lstStyle/>
                    <a:p>
                      <a:pPr>
                        <a:defRPr sz="850" b="0">
                          <a:solidFill>
                            <a:srgbClr val="053146"/>
                          </a:solidFill>
                          <a:latin typeface="Aptos"/>
                        </a:defRPr>
                      </a:pPr>
                      <a:r>
                        <a:t>Ports 80/443 et SSH restreint</a:t>
                      </a:r>
                    </a:p>
                  </a:txBody>
                  <a:tcPr marL="54864" marR="54864" marT="36576" marB="36576">
                    <a:solidFill>
                      <a:srgbClr val="F2F7F9"/>
                    </a:solidFill>
                  </a:tcPr>
                </a:tc>
                <a:tc>
                  <a:txBody>
                    <a:bodyPr/>
                    <a:lstStyle/>
                    <a:p>
                      <a:pPr>
                        <a:defRPr sz="850" b="0">
                          <a:solidFill>
                            <a:srgbClr val="053146"/>
                          </a:solidFill>
                          <a:latin typeface="Aptos"/>
                        </a:defRPr>
                      </a:pPr>
                      <a:r>
                        <a:t>Gratuit</a:t>
                      </a:r>
                    </a:p>
                  </a:txBody>
                  <a:tcPr marL="54864" marR="54864" marT="36576" marB="36576">
                    <a:solidFill>
                      <a:srgbClr val="F2F7F9"/>
                    </a:solidFill>
                  </a:tcPr>
                </a:tc>
              </a:tr>
              <a:tr h="723900">
                <a:tc>
                  <a:txBody>
                    <a:bodyPr/>
                    <a:lstStyle/>
                    <a:p>
                      <a:pPr>
                        <a:defRPr sz="850" b="0">
                          <a:solidFill>
                            <a:srgbClr val="053146"/>
                          </a:solidFill>
                          <a:latin typeface="Aptos"/>
                        </a:defRPr>
                      </a:pPr>
                      <a:r>
                        <a:t>VM1 WebServer</a:t>
                      </a:r>
                    </a:p>
                  </a:txBody>
                  <a:tcPr marL="54864" marR="54864" marT="36576" marB="36576">
                    <a:solidFill>
                      <a:srgbClr val="FFFFFF"/>
                    </a:solidFill>
                  </a:tcPr>
                </a:tc>
                <a:tc>
                  <a:txBody>
                    <a:bodyPr/>
                    <a:lstStyle/>
                    <a:p>
                      <a:pPr>
                        <a:defRPr sz="850" b="0">
                          <a:solidFill>
                            <a:srgbClr val="053146"/>
                          </a:solidFill>
                          <a:latin typeface="Aptos"/>
                        </a:defRPr>
                      </a:pPr>
                      <a:r>
                        <a:t>Azure VM B2s</a:t>
                      </a:r>
                    </a:p>
                  </a:txBody>
                  <a:tcPr marL="54864" marR="54864" marT="36576" marB="36576">
                    <a:solidFill>
                      <a:srgbClr val="FFFFFF"/>
                    </a:solidFill>
                  </a:tcPr>
                </a:tc>
                <a:tc>
                  <a:txBody>
                    <a:bodyPr/>
                    <a:lstStyle/>
                    <a:p>
                      <a:pPr>
                        <a:defRPr sz="850" b="0">
                          <a:solidFill>
                            <a:srgbClr val="053146"/>
                          </a:solidFill>
                          <a:latin typeface="Aptos"/>
                        </a:defRPr>
                      </a:pPr>
                      <a:r>
                        <a:t>Honeypot DVWA</a:t>
                      </a:r>
                    </a:p>
                  </a:txBody>
                  <a:tcPr marL="54864" marR="54864" marT="36576" marB="36576">
                    <a:solidFill>
                      <a:srgbClr val="FFFFFF"/>
                    </a:solidFill>
                  </a:tcPr>
                </a:tc>
                <a:tc>
                  <a:txBody>
                    <a:bodyPr/>
                    <a:lstStyle/>
                    <a:p>
                      <a:pPr>
                        <a:defRPr sz="850" b="0">
                          <a:solidFill>
                            <a:srgbClr val="053146"/>
                          </a:solidFill>
                          <a:latin typeface="Aptos"/>
                        </a:defRPr>
                      </a:pPr>
                      <a:r>
                        <a:t>25-40 USD/mois</a:t>
                      </a:r>
                    </a:p>
                  </a:txBody>
                  <a:tcPr marL="54864" marR="54864" marT="36576" marB="36576">
                    <a:solidFill>
                      <a:srgbClr val="FFFFFF"/>
                    </a:solidFill>
                  </a:tcPr>
                </a:tc>
              </a:tr>
              <a:tr h="723900">
                <a:tc>
                  <a:txBody>
                    <a:bodyPr/>
                    <a:lstStyle/>
                    <a:p>
                      <a:pPr>
                        <a:defRPr sz="850" b="0">
                          <a:solidFill>
                            <a:srgbClr val="053146"/>
                          </a:solidFill>
                          <a:latin typeface="Aptos"/>
                        </a:defRPr>
                      </a:pPr>
                      <a:r>
                        <a:t>IP publique</a:t>
                      </a:r>
                    </a:p>
                  </a:txBody>
                  <a:tcPr marL="54864" marR="54864" marT="36576" marB="36576">
                    <a:solidFill>
                      <a:srgbClr val="F2F7F9"/>
                    </a:solidFill>
                  </a:tcPr>
                </a:tc>
                <a:tc>
                  <a:txBody>
                    <a:bodyPr/>
                    <a:lstStyle/>
                    <a:p>
                      <a:pPr>
                        <a:defRPr sz="850" b="0">
                          <a:solidFill>
                            <a:srgbClr val="053146"/>
                          </a:solidFill>
                          <a:latin typeface="Aptos"/>
                        </a:defRPr>
                      </a:pPr>
                      <a:r>
                        <a:t>Azure Public IP</a:t>
                      </a:r>
                    </a:p>
                  </a:txBody>
                  <a:tcPr marL="54864" marR="54864" marT="36576" marB="36576">
                    <a:solidFill>
                      <a:srgbClr val="F2F7F9"/>
                    </a:solidFill>
                  </a:tcPr>
                </a:tc>
                <a:tc>
                  <a:txBody>
                    <a:bodyPr/>
                    <a:lstStyle/>
                    <a:p>
                      <a:pPr>
                        <a:defRPr sz="850" b="0">
                          <a:solidFill>
                            <a:srgbClr val="053146"/>
                          </a:solidFill>
                          <a:latin typeface="Aptos"/>
                        </a:defRPr>
                      </a:pPr>
                      <a:r>
                        <a:t>Exposition contrôlée</a:t>
                      </a:r>
                    </a:p>
                  </a:txBody>
                  <a:tcPr marL="54864" marR="54864" marT="36576" marB="36576">
                    <a:solidFill>
                      <a:srgbClr val="F2F7F9"/>
                    </a:solidFill>
                  </a:tcPr>
                </a:tc>
                <a:tc>
                  <a:txBody>
                    <a:bodyPr/>
                    <a:lstStyle/>
                    <a:p>
                      <a:pPr>
                        <a:defRPr sz="850" b="0">
                          <a:solidFill>
                            <a:srgbClr val="053146"/>
                          </a:solidFill>
                          <a:latin typeface="Aptos"/>
                        </a:defRPr>
                      </a:pPr>
                      <a:r>
                        <a:t>3-5 USD/mois</a:t>
                      </a:r>
                    </a:p>
                  </a:txBody>
                  <a:tcPr marL="54864" marR="54864" marT="36576" marB="36576">
                    <a:solidFill>
                      <a:srgbClr val="F2F7F9"/>
                    </a:solidFill>
                  </a:tcPr>
                </a:tc>
              </a:tr>
              <a:tr h="723900">
                <a:tc>
                  <a:txBody>
                    <a:bodyPr/>
                    <a:lstStyle/>
                    <a:p>
                      <a:pPr>
                        <a:defRPr sz="850" b="0">
                          <a:solidFill>
                            <a:srgbClr val="053146"/>
                          </a:solidFill>
                          <a:latin typeface="Aptos"/>
                        </a:defRPr>
                      </a:pPr>
                      <a:r>
                        <a:t>Disque managé</a:t>
                      </a:r>
                    </a:p>
                  </a:txBody>
                  <a:tcPr marL="54864" marR="54864" marT="36576" marB="36576">
                    <a:solidFill>
                      <a:srgbClr val="FFFFFF"/>
                    </a:solidFill>
                  </a:tcPr>
                </a:tc>
                <a:tc>
                  <a:txBody>
                    <a:bodyPr/>
                    <a:lstStyle/>
                    <a:p>
                      <a:pPr>
                        <a:defRPr sz="850" b="0">
                          <a:solidFill>
                            <a:srgbClr val="053146"/>
                          </a:solidFill>
                          <a:latin typeface="Aptos"/>
                        </a:defRPr>
                      </a:pPr>
                      <a:r>
                        <a:t>SSD Standard</a:t>
                      </a:r>
                    </a:p>
                  </a:txBody>
                  <a:tcPr marL="54864" marR="54864" marT="36576" marB="36576">
                    <a:solidFill>
                      <a:srgbClr val="FFFFFF"/>
                    </a:solidFill>
                  </a:tcPr>
                </a:tc>
                <a:tc>
                  <a:txBody>
                    <a:bodyPr/>
                    <a:lstStyle/>
                    <a:p>
                      <a:pPr>
                        <a:defRPr sz="850" b="0">
                          <a:solidFill>
                            <a:srgbClr val="053146"/>
                          </a:solidFill>
                          <a:latin typeface="Aptos"/>
                        </a:defRPr>
                      </a:pPr>
                      <a:r>
                        <a:t>Stockage système</a:t>
                      </a:r>
                    </a:p>
                  </a:txBody>
                  <a:tcPr marL="54864" marR="54864" marT="36576" marB="36576">
                    <a:solidFill>
                      <a:srgbClr val="FFFFFF"/>
                    </a:solidFill>
                  </a:tcPr>
                </a:tc>
                <a:tc>
                  <a:txBody>
                    <a:bodyPr/>
                    <a:lstStyle/>
                    <a:p>
                      <a:pPr>
                        <a:defRPr sz="850" b="0">
                          <a:solidFill>
                            <a:srgbClr val="053146"/>
                          </a:solidFill>
                          <a:latin typeface="Aptos"/>
                        </a:defRPr>
                      </a:pPr>
                      <a:r>
                        <a:t>6-8 USD/mois</a:t>
                      </a:r>
                    </a:p>
                  </a:txBody>
                  <a:tcPr marL="54864" marR="54864" marT="36576" marB="36576">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Données</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10</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Partie base de données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Centralisation et corrélation des logs</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Les données collectées depuis le honeypot, les systèmes Linux et Suricata sont normalisées puis stockées dans une base de données. Cette centralisation facilite l'analyse, la corrélation des événements et l'alimentation des tableaux de bord.</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Tables WebAttacks, SSHAttacks, PacketLogs et MLAnomalies.</a:t>
            </a:r>
          </a:p>
          <a:p>
            <a:pPr>
              <a:spcAft>
                <a:spcPts val="500"/>
              </a:spcAft>
              <a:defRPr sz="1030">
                <a:solidFill>
                  <a:srgbClr val="053146"/>
                </a:solidFill>
                <a:latin typeface="Aptos"/>
              </a:defRPr>
            </a:pPr>
            <a:r>
              <a:t>Insertion automatisée par scripts Python.</a:t>
            </a:r>
          </a:p>
          <a:p>
            <a:pPr>
              <a:spcAft>
                <a:spcPts val="500"/>
              </a:spcAft>
              <a:defRPr sz="1030">
                <a:solidFill>
                  <a:srgbClr val="053146"/>
                </a:solidFill>
                <a:latin typeface="Aptos"/>
              </a:defRPr>
            </a:pPr>
            <a:r>
              <a:t>Base exploitable par Power BI et les modèles ML.</a:t>
            </a:r>
          </a:p>
          <a:p>
            <a:pPr>
              <a:spcAft>
                <a:spcPts val="500"/>
              </a:spcAft>
              <a:defRPr sz="1030">
                <a:solidFill>
                  <a:srgbClr val="053146"/>
                </a:solidFill>
                <a:latin typeface="Aptos"/>
              </a:defRPr>
            </a:pPr>
            <a:r>
              <a:t>Historisation des événements pour analyse post-incident.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Pipeline</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11</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Pipeline de collecte et traitement</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Processus ETL automatisé</a:t>
            </a:r>
          </a:p>
        </p:txBody>
      </p:sp>
      <p:sp>
        <p:nvSpPr>
          <p:cNvPr id="18" name="Rounded Rectangle 17"/>
          <p:cNvSpPr/>
          <p:nvPr/>
        </p:nvSpPr>
        <p:spPr>
          <a:xfrm>
            <a:off x="685800" y="2148840"/>
            <a:ext cx="2468880" cy="1417320"/>
          </a:xfrm>
          <a:prstGeom prst="roundRect">
            <a:avLst/>
          </a:prstGeom>
          <a:solidFill>
            <a:srgbClr val="F2F7F9"/>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313432"/>
            <a:ext cx="2286000" cy="228600"/>
          </a:xfrm>
          <a:prstGeom prst="rect">
            <a:avLst/>
          </a:prstGeom>
          <a:noFill/>
        </p:spPr>
        <p:txBody>
          <a:bodyPr wrap="square" lIns="0" rIns="0" tIns="0" bIns="0">
            <a:spAutoFit/>
          </a:bodyPr>
          <a:lstStyle/>
          <a:p>
            <a:pPr algn="ctr"/>
            <a:r>
              <a:rPr sz="1100" b="1" i="0">
                <a:solidFill>
                  <a:srgbClr val="1870A0"/>
                </a:solidFill>
                <a:latin typeface="Aptos"/>
              </a:rPr>
              <a:t>Extract</a:t>
            </a:r>
          </a:p>
        </p:txBody>
      </p:sp>
      <p:sp>
        <p:nvSpPr>
          <p:cNvPr id="20" name="TextBox 19"/>
          <p:cNvSpPr txBox="1"/>
          <p:nvPr/>
        </p:nvSpPr>
        <p:spPr>
          <a:xfrm>
            <a:off x="795528" y="2679192"/>
            <a:ext cx="2249424" cy="594360"/>
          </a:xfrm>
          <a:prstGeom prst="rect">
            <a:avLst/>
          </a:prstGeom>
          <a:noFill/>
        </p:spPr>
        <p:txBody>
          <a:bodyPr wrap="square" lIns="0" rIns="0" tIns="0" bIns="0">
            <a:spAutoFit/>
          </a:bodyPr>
          <a:lstStyle/>
          <a:p>
            <a:pPr algn="ctr"/>
            <a:r>
              <a:rPr sz="880" b="0" i="0">
                <a:solidFill>
                  <a:srgbClr val="053146"/>
                </a:solidFill>
                <a:latin typeface="Aptos"/>
              </a:rPr>
              <a:t>Logs Apache
Auth.log
EVE JSON</a:t>
            </a:r>
          </a:p>
        </p:txBody>
      </p:sp>
      <p:sp>
        <p:nvSpPr>
          <p:cNvPr id="21" name="Right Arrow 20"/>
          <p:cNvSpPr/>
          <p:nvPr/>
        </p:nvSpPr>
        <p:spPr>
          <a:xfrm>
            <a:off x="3127248"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74720" y="2148840"/>
            <a:ext cx="2468880" cy="1417320"/>
          </a:xfrm>
          <a:prstGeom prst="roundRect">
            <a:avLst/>
          </a:prstGeom>
          <a:solidFill>
            <a:srgbClr val="F2F7F9"/>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66160" y="2313432"/>
            <a:ext cx="2286000" cy="228600"/>
          </a:xfrm>
          <a:prstGeom prst="rect">
            <a:avLst/>
          </a:prstGeom>
          <a:noFill/>
        </p:spPr>
        <p:txBody>
          <a:bodyPr wrap="square" lIns="0" rIns="0" tIns="0" bIns="0">
            <a:spAutoFit/>
          </a:bodyPr>
          <a:lstStyle/>
          <a:p>
            <a:pPr algn="ctr"/>
            <a:r>
              <a:rPr sz="1100" b="1" i="0">
                <a:solidFill>
                  <a:srgbClr val="1AA09E"/>
                </a:solidFill>
                <a:latin typeface="Aptos"/>
              </a:rPr>
              <a:t>Transform</a:t>
            </a:r>
          </a:p>
        </p:txBody>
      </p:sp>
      <p:sp>
        <p:nvSpPr>
          <p:cNvPr id="24" name="TextBox 23"/>
          <p:cNvSpPr txBox="1"/>
          <p:nvPr/>
        </p:nvSpPr>
        <p:spPr>
          <a:xfrm>
            <a:off x="3584448" y="2679192"/>
            <a:ext cx="2249424" cy="594360"/>
          </a:xfrm>
          <a:prstGeom prst="rect">
            <a:avLst/>
          </a:prstGeom>
          <a:noFill/>
        </p:spPr>
        <p:txBody>
          <a:bodyPr wrap="square" lIns="0" rIns="0" tIns="0" bIns="0">
            <a:spAutoFit/>
          </a:bodyPr>
          <a:lstStyle/>
          <a:p>
            <a:pPr algn="ctr"/>
            <a:r>
              <a:rPr sz="880" b="0" i="0">
                <a:solidFill>
                  <a:srgbClr val="053146"/>
                </a:solidFill>
                <a:latin typeface="Aptos"/>
              </a:rPr>
              <a:t>Parsing Python
Classification
Normalisation</a:t>
            </a:r>
          </a:p>
        </p:txBody>
      </p:sp>
      <p:sp>
        <p:nvSpPr>
          <p:cNvPr id="25" name="Right Arrow 24"/>
          <p:cNvSpPr/>
          <p:nvPr/>
        </p:nvSpPr>
        <p:spPr>
          <a:xfrm>
            <a:off x="5916168"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63640" y="2148840"/>
            <a:ext cx="2468880" cy="1417320"/>
          </a:xfrm>
          <a:prstGeom prst="roundRect">
            <a:avLst/>
          </a:prstGeom>
          <a:solidFill>
            <a:srgbClr val="F2F7F9"/>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2313432"/>
            <a:ext cx="2286000" cy="228600"/>
          </a:xfrm>
          <a:prstGeom prst="rect">
            <a:avLst/>
          </a:prstGeom>
          <a:noFill/>
        </p:spPr>
        <p:txBody>
          <a:bodyPr wrap="square" lIns="0" rIns="0" tIns="0" bIns="0">
            <a:spAutoFit/>
          </a:bodyPr>
          <a:lstStyle/>
          <a:p>
            <a:pPr algn="ctr"/>
            <a:r>
              <a:rPr sz="1100" b="1" i="0">
                <a:solidFill>
                  <a:srgbClr val="E08E2C"/>
                </a:solidFill>
                <a:latin typeface="Aptos"/>
              </a:rPr>
              <a:t>Load</a:t>
            </a:r>
          </a:p>
        </p:txBody>
      </p:sp>
      <p:sp>
        <p:nvSpPr>
          <p:cNvPr id="28" name="TextBox 27"/>
          <p:cNvSpPr txBox="1"/>
          <p:nvPr/>
        </p:nvSpPr>
        <p:spPr>
          <a:xfrm>
            <a:off x="6373368" y="2679192"/>
            <a:ext cx="2249424" cy="594360"/>
          </a:xfrm>
          <a:prstGeom prst="rect">
            <a:avLst/>
          </a:prstGeom>
          <a:noFill/>
        </p:spPr>
        <p:txBody>
          <a:bodyPr wrap="square" lIns="0" rIns="0" tIns="0" bIns="0">
            <a:spAutoFit/>
          </a:bodyPr>
          <a:lstStyle/>
          <a:p>
            <a:pPr algn="ctr"/>
            <a:r>
              <a:rPr sz="880" b="0" i="0">
                <a:solidFill>
                  <a:srgbClr val="053146"/>
                </a:solidFill>
                <a:latin typeface="Aptos"/>
              </a:rPr>
              <a:t>Azure SQL
Blob Storage
Log Analytics</a:t>
            </a:r>
          </a:p>
        </p:txBody>
      </p:sp>
      <p:sp>
        <p:nvSpPr>
          <p:cNvPr id="29" name="Right Arrow 28"/>
          <p:cNvSpPr/>
          <p:nvPr/>
        </p:nvSpPr>
        <p:spPr>
          <a:xfrm>
            <a:off x="8705088" y="2651760"/>
            <a:ext cx="384048" cy="320040"/>
          </a:xfrm>
          <a:prstGeom prst="rightArrow">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52560" y="2148840"/>
            <a:ext cx="2468880" cy="1417320"/>
          </a:xfrm>
          <a:prstGeom prst="roundRect">
            <a:avLst/>
          </a:prstGeom>
          <a:solidFill>
            <a:srgbClr val="F2F7F9"/>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0" y="2313432"/>
            <a:ext cx="2286000" cy="228600"/>
          </a:xfrm>
          <a:prstGeom prst="rect">
            <a:avLst/>
          </a:prstGeom>
          <a:noFill/>
        </p:spPr>
        <p:txBody>
          <a:bodyPr wrap="square" lIns="0" rIns="0" tIns="0" bIns="0">
            <a:spAutoFit/>
          </a:bodyPr>
          <a:lstStyle/>
          <a:p>
            <a:pPr algn="ctr"/>
            <a:r>
              <a:rPr sz="1100" b="1" i="0">
                <a:solidFill>
                  <a:srgbClr val="309C58"/>
                </a:solidFill>
                <a:latin typeface="Aptos"/>
              </a:rPr>
              <a:t>Analyze</a:t>
            </a:r>
          </a:p>
        </p:txBody>
      </p:sp>
      <p:sp>
        <p:nvSpPr>
          <p:cNvPr id="32" name="TextBox 31"/>
          <p:cNvSpPr txBox="1"/>
          <p:nvPr/>
        </p:nvSpPr>
        <p:spPr>
          <a:xfrm>
            <a:off x="9162288" y="2679192"/>
            <a:ext cx="2249424" cy="594360"/>
          </a:xfrm>
          <a:prstGeom prst="rect">
            <a:avLst/>
          </a:prstGeom>
          <a:noFill/>
        </p:spPr>
        <p:txBody>
          <a:bodyPr wrap="square" lIns="0" rIns="0" tIns="0" bIns="0">
            <a:spAutoFit/>
          </a:bodyPr>
          <a:lstStyle/>
          <a:p>
            <a:pPr algn="ctr"/>
            <a:r>
              <a:rPr sz="880" b="0" i="0">
                <a:solidFill>
                  <a:srgbClr val="053146"/>
                </a:solidFill>
                <a:latin typeface="Aptos"/>
              </a:rPr>
              <a:t>Sentinel
ML
Power BI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SIEM</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12</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Microsoft Sentinel</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Corrélation et détection des incidents</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Microsoft Sentinel joue le rôle de SIEM cloud. Il centralise les journaux, applique des règles KQL et génère des incidents lorsque des comportements suspects sont détectés.</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Collecte des logs via Log Analytics Workspace.</a:t>
            </a:r>
          </a:p>
          <a:p>
            <a:pPr>
              <a:spcAft>
                <a:spcPts val="500"/>
              </a:spcAft>
              <a:defRPr sz="1030">
                <a:solidFill>
                  <a:srgbClr val="053146"/>
                </a:solidFill>
                <a:latin typeface="Aptos"/>
              </a:defRPr>
            </a:pPr>
            <a:r>
              <a:t>Règles KQL pour brute force SSH, SQLi, RCE et scans.</a:t>
            </a:r>
          </a:p>
          <a:p>
            <a:pPr>
              <a:spcAft>
                <a:spcPts val="500"/>
              </a:spcAft>
              <a:defRPr sz="1030">
                <a:solidFill>
                  <a:srgbClr val="053146"/>
                </a:solidFill>
                <a:latin typeface="Aptos"/>
              </a:defRPr>
            </a:pPr>
            <a:r>
              <a:t>Classification des alertes par sévérité.</a:t>
            </a:r>
          </a:p>
          <a:p>
            <a:pPr>
              <a:spcAft>
                <a:spcPts val="500"/>
              </a:spcAft>
              <a:defRPr sz="1030">
                <a:solidFill>
                  <a:srgbClr val="053146"/>
                </a:solidFill>
                <a:latin typeface="Aptos"/>
              </a:defRPr>
            </a:pPr>
            <a:r>
              <a:t>Déclenchement des playbooks SOAR.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SOAR &amp; IA</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13</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SOAR et Machine Learning</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Automatiser la réponse et détecter les anomalies</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SOAR</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Logic Apps déclenchées par Sentinel</a:t>
            </a:r>
          </a:p>
          <a:p>
            <a:pPr>
              <a:spcAft>
                <a:spcPts val="500"/>
              </a:spcAft>
              <a:defRPr sz="1030">
                <a:solidFill>
                  <a:srgbClr val="053146"/>
                </a:solidFill>
                <a:latin typeface="Aptos"/>
              </a:defRPr>
            </a:pPr>
            <a:r>
              <a:t>Blocage automatique d'IP malveillantes</a:t>
            </a:r>
          </a:p>
          <a:p>
            <a:pPr>
              <a:spcAft>
                <a:spcPts val="500"/>
              </a:spcAft>
              <a:defRPr sz="1030">
                <a:solidFill>
                  <a:srgbClr val="053146"/>
                </a:solidFill>
                <a:latin typeface="Aptos"/>
              </a:defRPr>
            </a:pPr>
            <a:r>
              <a:t>Réduction du temps de confinement</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Machine Learning</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Isolation Forest</a:t>
            </a:r>
          </a:p>
          <a:p>
            <a:pPr>
              <a:spcAft>
                <a:spcPts val="500"/>
              </a:spcAft>
              <a:defRPr sz="1030">
                <a:solidFill>
                  <a:srgbClr val="053146"/>
                </a:solidFill>
                <a:latin typeface="Aptos"/>
              </a:defRPr>
            </a:pPr>
            <a:r>
              <a:t>DBSCAN</a:t>
            </a:r>
          </a:p>
          <a:p>
            <a:pPr>
              <a:spcAft>
                <a:spcPts val="500"/>
              </a:spcAft>
              <a:defRPr sz="1030">
                <a:solidFill>
                  <a:srgbClr val="053146"/>
                </a:solidFill>
                <a:latin typeface="Aptos"/>
              </a:defRPr>
            </a:pPr>
            <a:r>
              <a:t>Détection d'anomalies inconnues</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Bénéfice</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Moins d'actions manuelles</a:t>
            </a:r>
          </a:p>
          <a:p>
            <a:pPr>
              <a:spcAft>
                <a:spcPts val="500"/>
              </a:spcAft>
              <a:defRPr sz="1030">
                <a:solidFill>
                  <a:srgbClr val="053146"/>
                </a:solidFill>
                <a:latin typeface="Aptos"/>
              </a:defRPr>
            </a:pPr>
            <a:r>
              <a:t>Réponse plus rapide</a:t>
            </a:r>
          </a:p>
          <a:p>
            <a:pPr>
              <a:spcAft>
                <a:spcPts val="500"/>
              </a:spcAft>
              <a:defRPr sz="1030">
                <a:solidFill>
                  <a:srgbClr val="053146"/>
                </a:solidFill>
                <a:latin typeface="Aptos"/>
              </a:defRPr>
            </a:pPr>
            <a:r>
              <a:t>Amélioration continue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Visualisation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14</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Power BI et validation Azure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Tableaux de bord et suivi opérationnel</a:t>
            </a:r>
          </a:p>
        </p:txBody>
      </p:sp>
      <p:sp>
        <p:nvSpPr>
          <p:cNvPr id="18" name="TextBox 17"/>
          <p:cNvSpPr txBox="1"/>
          <p:nvPr/>
        </p:nvSpPr>
        <p:spPr>
          <a:xfrm>
            <a:off x="777240" y="1481328"/>
            <a:ext cx="10607040" cy="1143000"/>
          </a:xfrm>
          <a:prstGeom prst="rect">
            <a:avLst/>
          </a:prstGeom>
          <a:noFill/>
        </p:spPr>
        <p:txBody>
          <a:bodyPr wrap="square" lIns="0" rIns="0" tIns="0" bIns="0">
            <a:spAutoFit/>
          </a:bodyPr>
          <a:lstStyle/>
          <a:p>
            <a:pPr algn="l"/>
            <a:r>
              <a:rPr sz="1600" b="0" i="0">
                <a:solidFill>
                  <a:srgbClr val="053146"/>
                </a:solidFill>
                <a:latin typeface="Aptos"/>
              </a:rPr>
              <a:t>Power BI permet de visualiser les attaques, les sources malveillantes, les types d'incidents et les anomalies détectées. Azure Cost Management et Defender for Cloud servent à valider le budget et la posture de sécurité.</a:t>
            </a:r>
          </a:p>
        </p:txBody>
      </p:sp>
      <p:sp>
        <p:nvSpPr>
          <p:cNvPr id="19" name="Rounded Rectangle 18"/>
          <p:cNvSpPr/>
          <p:nvPr/>
        </p:nvSpPr>
        <p:spPr>
          <a:xfrm>
            <a:off x="1005840" y="2971800"/>
            <a:ext cx="10058400" cy="23774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5840" y="2971800"/>
            <a:ext cx="73152" cy="23774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7008" y="3136392"/>
            <a:ext cx="9729216" cy="274320"/>
          </a:xfrm>
          <a:prstGeom prst="rect">
            <a:avLst/>
          </a:prstGeom>
          <a:noFill/>
        </p:spPr>
        <p:txBody>
          <a:bodyPr wrap="square" lIns="0" rIns="0" tIns="0" bIns="0">
            <a:spAutoFit/>
          </a:bodyPr>
          <a:lstStyle/>
          <a:p>
            <a:pPr algn="l"/>
            <a:r>
              <a:rPr sz="1300" b="1" i="0">
                <a:solidFill>
                  <a:srgbClr val="074662"/>
                </a:solidFill>
                <a:latin typeface="Aptos"/>
              </a:rPr>
              <a:t>Points clés</a:t>
            </a:r>
          </a:p>
        </p:txBody>
      </p:sp>
      <p:sp>
        <p:nvSpPr>
          <p:cNvPr id="22" name="TextBox 21"/>
          <p:cNvSpPr txBox="1"/>
          <p:nvPr/>
        </p:nvSpPr>
        <p:spPr>
          <a:xfrm>
            <a:off x="1234440" y="3566160"/>
            <a:ext cx="9674352" cy="1645920"/>
          </a:xfrm>
          <a:prstGeom prst="rect">
            <a:avLst/>
          </a:prstGeom>
          <a:noFill/>
        </p:spPr>
        <p:txBody>
          <a:bodyPr wrap="square">
            <a:spAutoFit/>
          </a:bodyPr>
          <a:lstStyle/>
          <a:p>
            <a:pPr>
              <a:spcAft>
                <a:spcPts val="500"/>
              </a:spcAft>
              <a:defRPr sz="1030">
                <a:solidFill>
                  <a:srgbClr val="053146"/>
                </a:solidFill>
                <a:latin typeface="Aptos"/>
              </a:defRPr>
            </a:pPr>
            <a:r>
              <a:t>Dashboard Power BI connecté à Azure SQL.</a:t>
            </a:r>
          </a:p>
          <a:p>
            <a:pPr>
              <a:spcAft>
                <a:spcPts val="500"/>
              </a:spcAft>
              <a:defRPr sz="1030">
                <a:solidFill>
                  <a:srgbClr val="053146"/>
                </a:solidFill>
                <a:latin typeface="Aptos"/>
              </a:defRPr>
            </a:pPr>
            <a:r>
              <a:t>Suivi des coûts et du crédit Azure for Students.</a:t>
            </a:r>
          </a:p>
          <a:p>
            <a:pPr>
              <a:spcAft>
                <a:spcPts val="500"/>
              </a:spcAft>
              <a:defRPr sz="1030">
                <a:solidFill>
                  <a:srgbClr val="053146"/>
                </a:solidFill>
                <a:latin typeface="Aptos"/>
              </a:defRPr>
            </a:pPr>
            <a:r>
              <a:t>Validation des logs dans Log Analytics.</a:t>
            </a:r>
          </a:p>
          <a:p>
            <a:pPr>
              <a:spcAft>
                <a:spcPts val="500"/>
              </a:spcAft>
              <a:defRPr sz="1030">
                <a:solidFill>
                  <a:srgbClr val="053146"/>
                </a:solidFill>
                <a:latin typeface="Aptos"/>
              </a:defRPr>
            </a:pPr>
            <a:r>
              <a:t>Recommandations de sécurité Defender for Cloud.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Résultats</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15</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Résultats clés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Validation technique du prototype</a:t>
            </a:r>
          </a:p>
        </p:txBody>
      </p:sp>
      <p:sp>
        <p:nvSpPr>
          <p:cNvPr id="18" name="Rounded Rectangle 17"/>
          <p:cNvSpPr/>
          <p:nvPr/>
        </p:nvSpPr>
        <p:spPr>
          <a:xfrm>
            <a:off x="68580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1673352"/>
            <a:ext cx="2249424" cy="320040"/>
          </a:xfrm>
          <a:prstGeom prst="rect">
            <a:avLst/>
          </a:prstGeom>
          <a:noFill/>
        </p:spPr>
        <p:txBody>
          <a:bodyPr wrap="square" lIns="0" rIns="0" tIns="0" bIns="0">
            <a:spAutoFit/>
          </a:bodyPr>
          <a:lstStyle/>
          <a:p>
            <a:pPr algn="ctr"/>
            <a:r>
              <a:rPr sz="1800" b="1" i="0">
                <a:solidFill>
                  <a:srgbClr val="1870A0"/>
                </a:solidFill>
                <a:latin typeface="Aptos"/>
              </a:rPr>
              <a:t>100 USD</a:t>
            </a:r>
          </a:p>
        </p:txBody>
      </p:sp>
      <p:sp>
        <p:nvSpPr>
          <p:cNvPr id="20" name="TextBox 19"/>
          <p:cNvSpPr txBox="1"/>
          <p:nvPr/>
        </p:nvSpPr>
        <p:spPr>
          <a:xfrm>
            <a:off x="795528" y="2084831"/>
            <a:ext cx="2249424" cy="320040"/>
          </a:xfrm>
          <a:prstGeom prst="rect">
            <a:avLst/>
          </a:prstGeom>
          <a:noFill/>
        </p:spPr>
        <p:txBody>
          <a:bodyPr wrap="square" lIns="0" rIns="0" tIns="0" bIns="0">
            <a:spAutoFit/>
          </a:bodyPr>
          <a:lstStyle/>
          <a:p>
            <a:pPr algn="ctr"/>
            <a:r>
              <a:rPr sz="850" b="0" i="0">
                <a:solidFill>
                  <a:srgbClr val="053146"/>
                </a:solidFill>
                <a:latin typeface="Aptos"/>
              </a:rPr>
              <a:t>Budget initial</a:t>
            </a:r>
          </a:p>
        </p:txBody>
      </p:sp>
      <p:sp>
        <p:nvSpPr>
          <p:cNvPr id="21" name="Rounded Rectangle 20"/>
          <p:cNvSpPr/>
          <p:nvPr/>
        </p:nvSpPr>
        <p:spPr>
          <a:xfrm>
            <a:off x="347472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1673352"/>
            <a:ext cx="2249424" cy="320040"/>
          </a:xfrm>
          <a:prstGeom prst="rect">
            <a:avLst/>
          </a:prstGeom>
          <a:noFill/>
        </p:spPr>
        <p:txBody>
          <a:bodyPr wrap="square" lIns="0" rIns="0" tIns="0" bIns="0">
            <a:spAutoFit/>
          </a:bodyPr>
          <a:lstStyle/>
          <a:p>
            <a:pPr algn="ctr"/>
            <a:r>
              <a:rPr sz="1800" b="1" i="0">
                <a:solidFill>
                  <a:srgbClr val="309C58"/>
                </a:solidFill>
                <a:latin typeface="Aptos"/>
              </a:rPr>
              <a:t>87,40 USD</a:t>
            </a:r>
          </a:p>
        </p:txBody>
      </p:sp>
      <p:sp>
        <p:nvSpPr>
          <p:cNvPr id="23" name="TextBox 22"/>
          <p:cNvSpPr txBox="1"/>
          <p:nvPr/>
        </p:nvSpPr>
        <p:spPr>
          <a:xfrm>
            <a:off x="3584448" y="2084831"/>
            <a:ext cx="2249424" cy="320040"/>
          </a:xfrm>
          <a:prstGeom prst="rect">
            <a:avLst/>
          </a:prstGeom>
          <a:noFill/>
        </p:spPr>
        <p:txBody>
          <a:bodyPr wrap="square" lIns="0" rIns="0" tIns="0" bIns="0">
            <a:spAutoFit/>
          </a:bodyPr>
          <a:lstStyle/>
          <a:p>
            <a:pPr algn="ctr"/>
            <a:r>
              <a:rPr sz="850" b="0" i="0">
                <a:solidFill>
                  <a:srgbClr val="053146"/>
                </a:solidFill>
                <a:latin typeface="Aptos"/>
              </a:rPr>
              <a:t>Coût final estimé</a:t>
            </a:r>
          </a:p>
        </p:txBody>
      </p:sp>
      <p:sp>
        <p:nvSpPr>
          <p:cNvPr id="24" name="Rounded Rectangle 23"/>
          <p:cNvSpPr/>
          <p:nvPr/>
        </p:nvSpPr>
        <p:spPr>
          <a:xfrm>
            <a:off x="626364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1673352"/>
            <a:ext cx="2249424" cy="320040"/>
          </a:xfrm>
          <a:prstGeom prst="rect">
            <a:avLst/>
          </a:prstGeom>
          <a:noFill/>
        </p:spPr>
        <p:txBody>
          <a:bodyPr wrap="square" lIns="0" rIns="0" tIns="0" bIns="0">
            <a:spAutoFit/>
          </a:bodyPr>
          <a:lstStyle/>
          <a:p>
            <a:pPr algn="ctr"/>
            <a:r>
              <a:rPr sz="1800" b="1" i="0">
                <a:solidFill>
                  <a:srgbClr val="1AA09E"/>
                </a:solidFill>
                <a:latin typeface="Aptos"/>
              </a:rPr>
              <a:t>&lt; 5 min</a:t>
            </a:r>
          </a:p>
        </p:txBody>
      </p:sp>
      <p:sp>
        <p:nvSpPr>
          <p:cNvPr id="26" name="TextBox 25"/>
          <p:cNvSpPr txBox="1"/>
          <p:nvPr/>
        </p:nvSpPr>
        <p:spPr>
          <a:xfrm>
            <a:off x="6373368" y="2084831"/>
            <a:ext cx="2249424" cy="320040"/>
          </a:xfrm>
          <a:prstGeom prst="rect">
            <a:avLst/>
          </a:prstGeom>
          <a:noFill/>
        </p:spPr>
        <p:txBody>
          <a:bodyPr wrap="square" lIns="0" rIns="0" tIns="0" bIns="0">
            <a:spAutoFit/>
          </a:bodyPr>
          <a:lstStyle/>
          <a:p>
            <a:pPr algn="ctr"/>
            <a:r>
              <a:rPr sz="850" b="0" i="0">
                <a:solidFill>
                  <a:srgbClr val="053146"/>
                </a:solidFill>
                <a:latin typeface="Aptos"/>
              </a:rPr>
              <a:t>Détection visée</a:t>
            </a:r>
          </a:p>
        </p:txBody>
      </p:sp>
      <p:sp>
        <p:nvSpPr>
          <p:cNvPr id="27" name="Rounded Rectangle 26"/>
          <p:cNvSpPr/>
          <p:nvPr/>
        </p:nvSpPr>
        <p:spPr>
          <a:xfrm>
            <a:off x="905256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2288" y="1673352"/>
            <a:ext cx="2249424" cy="320040"/>
          </a:xfrm>
          <a:prstGeom prst="rect">
            <a:avLst/>
          </a:prstGeom>
          <a:noFill/>
        </p:spPr>
        <p:txBody>
          <a:bodyPr wrap="square" lIns="0" rIns="0" tIns="0" bIns="0">
            <a:spAutoFit/>
          </a:bodyPr>
          <a:lstStyle/>
          <a:p>
            <a:pPr algn="ctr"/>
            <a:r>
              <a:rPr sz="1800" b="1" i="0">
                <a:solidFill>
                  <a:srgbClr val="E08E2C"/>
                </a:solidFill>
                <a:latin typeface="Aptos"/>
              </a:rPr>
              <a:t>&lt; 30 s</a:t>
            </a:r>
          </a:p>
        </p:txBody>
      </p:sp>
      <p:sp>
        <p:nvSpPr>
          <p:cNvPr id="29" name="TextBox 28"/>
          <p:cNvSpPr txBox="1"/>
          <p:nvPr/>
        </p:nvSpPr>
        <p:spPr>
          <a:xfrm>
            <a:off x="9162288" y="2084831"/>
            <a:ext cx="2249424" cy="320040"/>
          </a:xfrm>
          <a:prstGeom prst="rect">
            <a:avLst/>
          </a:prstGeom>
          <a:noFill/>
        </p:spPr>
        <p:txBody>
          <a:bodyPr wrap="square" lIns="0" rIns="0" tIns="0" bIns="0">
            <a:spAutoFit/>
          </a:bodyPr>
          <a:lstStyle/>
          <a:p>
            <a:pPr algn="ctr"/>
            <a:r>
              <a:rPr sz="850" b="0" i="0">
                <a:solidFill>
                  <a:srgbClr val="053146"/>
                </a:solidFill>
                <a:latin typeface="Aptos"/>
              </a:rPr>
              <a:t>Confinement SOAR visé</a:t>
            </a:r>
          </a:p>
        </p:txBody>
      </p:sp>
      <p:sp>
        <p:nvSpPr>
          <p:cNvPr id="30" name="Rounded Rectangle 29"/>
          <p:cNvSpPr/>
          <p:nvPr/>
        </p:nvSpPr>
        <p:spPr>
          <a:xfrm>
            <a:off x="1005840" y="3063240"/>
            <a:ext cx="10058400" cy="21488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5840" y="3063240"/>
            <a:ext cx="73152" cy="21488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07008" y="3227832"/>
            <a:ext cx="9729216" cy="274320"/>
          </a:xfrm>
          <a:prstGeom prst="rect">
            <a:avLst/>
          </a:prstGeom>
          <a:noFill/>
        </p:spPr>
        <p:txBody>
          <a:bodyPr wrap="square" lIns="0" rIns="0" tIns="0" bIns="0">
            <a:spAutoFit/>
          </a:bodyPr>
          <a:lstStyle/>
          <a:p>
            <a:pPr algn="l"/>
            <a:r>
              <a:rPr sz="1300" b="1" i="0">
                <a:solidFill>
                  <a:srgbClr val="074662"/>
                </a:solidFill>
                <a:latin typeface="Aptos"/>
              </a:rPr>
              <a:t>Interprétation</a:t>
            </a:r>
          </a:p>
        </p:txBody>
      </p:sp>
      <p:sp>
        <p:nvSpPr>
          <p:cNvPr id="33" name="TextBox 32"/>
          <p:cNvSpPr txBox="1"/>
          <p:nvPr/>
        </p:nvSpPr>
        <p:spPr>
          <a:xfrm>
            <a:off x="1234440" y="3657600"/>
            <a:ext cx="9674352" cy="1417320"/>
          </a:xfrm>
          <a:prstGeom prst="rect">
            <a:avLst/>
          </a:prstGeom>
          <a:noFill/>
        </p:spPr>
        <p:txBody>
          <a:bodyPr wrap="square">
            <a:spAutoFit/>
          </a:bodyPr>
          <a:lstStyle/>
          <a:p>
            <a:pPr>
              <a:spcAft>
                <a:spcPts val="500"/>
              </a:spcAft>
              <a:defRPr sz="1030">
                <a:solidFill>
                  <a:srgbClr val="053146"/>
                </a:solidFill>
                <a:latin typeface="Aptos"/>
              </a:defRPr>
            </a:pPr>
            <a:r>
              <a:t>Infrastructure reproductible avec Terraform.</a:t>
            </a:r>
          </a:p>
          <a:p>
            <a:pPr>
              <a:spcAft>
                <a:spcPts val="500"/>
              </a:spcAft>
              <a:defRPr sz="1030">
                <a:solidFill>
                  <a:srgbClr val="053146"/>
                </a:solidFill>
                <a:latin typeface="Aptos"/>
              </a:defRPr>
            </a:pPr>
            <a:r>
              <a:t>Honeypot opérationnel pour capturer des attaques réelles.</a:t>
            </a:r>
          </a:p>
          <a:p>
            <a:pPr>
              <a:spcAft>
                <a:spcPts val="500"/>
              </a:spcAft>
              <a:defRPr sz="1030">
                <a:solidFill>
                  <a:srgbClr val="053146"/>
                </a:solidFill>
                <a:latin typeface="Aptos"/>
              </a:defRPr>
            </a:pPr>
            <a:r>
              <a:t>Logs centralisés, analysés et visualisés.</a:t>
            </a:r>
          </a:p>
          <a:p>
            <a:pPr>
              <a:spcAft>
                <a:spcPts val="500"/>
              </a:spcAft>
              <a:defRPr sz="1030">
                <a:solidFill>
                  <a:srgbClr val="053146"/>
                </a:solidFill>
                <a:latin typeface="Aptos"/>
              </a:defRPr>
            </a:pPr>
            <a:r>
              <a:t>Solution adaptée à un contexte académique et PME.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16</a:t>
            </a:r>
          </a:p>
        </p:txBody>
      </p:sp>
      <p:sp>
        <p:nvSpPr>
          <p:cNvPr id="16" name="TextBox 15"/>
          <p:cNvSpPr txBox="1"/>
          <p:nvPr/>
        </p:nvSpPr>
        <p:spPr>
          <a:xfrm>
            <a:off x="914400" y="2331720"/>
            <a:ext cx="10378440" cy="640080"/>
          </a:xfrm>
          <a:prstGeom prst="rect">
            <a:avLst/>
          </a:prstGeom>
          <a:noFill/>
        </p:spPr>
        <p:txBody>
          <a:bodyPr wrap="square" lIns="0" rIns="0" tIns="0" bIns="0">
            <a:spAutoFit/>
          </a:bodyPr>
          <a:lstStyle/>
          <a:p>
            <a:pPr algn="ctr"/>
            <a:r>
              <a:rPr sz="3400" b="1" i="1">
                <a:solidFill>
                  <a:srgbClr val="074662"/>
                </a:solidFill>
                <a:latin typeface="Georgia"/>
              </a:rPr>
              <a:t>Partie Entrepreneuriat</a:t>
            </a:r>
          </a:p>
        </p:txBody>
      </p:sp>
      <p:sp>
        <p:nvSpPr>
          <p:cNvPr id="17" name="TextBox 16"/>
          <p:cNvSpPr txBox="1"/>
          <p:nvPr/>
        </p:nvSpPr>
        <p:spPr>
          <a:xfrm>
            <a:off x="1371600" y="3063240"/>
            <a:ext cx="9464040" cy="411480"/>
          </a:xfrm>
          <a:prstGeom prst="rect">
            <a:avLst/>
          </a:prstGeom>
          <a:noFill/>
        </p:spPr>
        <p:txBody>
          <a:bodyPr wrap="square" lIns="0" rIns="0" tIns="0" bIns="0">
            <a:spAutoFit/>
          </a:bodyPr>
          <a:lstStyle/>
          <a:p>
            <a:pPr algn="ctr"/>
            <a:r>
              <a:rPr sz="1800" b="0" i="0">
                <a:solidFill>
                  <a:srgbClr val="7C96A0"/>
                </a:solidFill>
                <a:latin typeface="Aptos"/>
              </a:rPr>
              <a:t>Transformer AITDR en solution commercialisable</a:t>
            </a:r>
          </a:p>
        </p:txBody>
      </p:sp>
      <p:sp>
        <p:nvSpPr>
          <p:cNvPr id="18" name="Rectangle 17"/>
          <p:cNvSpPr/>
          <p:nvPr/>
        </p:nvSpPr>
        <p:spPr>
          <a:xfrm>
            <a:off x="4251960" y="3794760"/>
            <a:ext cx="3657600" cy="54864"/>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1/7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17</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Opportunité de marché</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Un besoin réel pour un SOC accessible</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Constat</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Hausse des attaques cloud</a:t>
            </a:r>
          </a:p>
          <a:p>
            <a:pPr>
              <a:spcAft>
                <a:spcPts val="500"/>
              </a:spcAft>
              <a:defRPr sz="1030">
                <a:solidFill>
                  <a:srgbClr val="053146"/>
                </a:solidFill>
                <a:latin typeface="Aptos"/>
              </a:defRPr>
            </a:pPr>
            <a:r>
              <a:t>PME sans SOC interne</a:t>
            </a:r>
          </a:p>
          <a:p>
            <a:pPr>
              <a:spcAft>
                <a:spcPts val="500"/>
              </a:spcAft>
              <a:defRPr sz="1030">
                <a:solidFill>
                  <a:srgbClr val="053146"/>
                </a:solidFill>
                <a:latin typeface="Aptos"/>
              </a:defRPr>
            </a:pPr>
            <a:r>
              <a:t>Pénurie de profils cyber</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Problème</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Solutions SIEM coûteuses</a:t>
            </a:r>
          </a:p>
          <a:p>
            <a:pPr>
              <a:spcAft>
                <a:spcPts val="500"/>
              </a:spcAft>
              <a:defRPr sz="1030">
                <a:solidFill>
                  <a:srgbClr val="053146"/>
                </a:solidFill>
                <a:latin typeface="Aptos"/>
              </a:defRPr>
            </a:pPr>
            <a:r>
              <a:t>Déploiement complexe</a:t>
            </a:r>
          </a:p>
          <a:p>
            <a:pPr>
              <a:spcAft>
                <a:spcPts val="500"/>
              </a:spcAft>
              <a:defRPr sz="1030">
                <a:solidFill>
                  <a:srgbClr val="053146"/>
                </a:solidFill>
                <a:latin typeface="Aptos"/>
              </a:defRPr>
            </a:pPr>
            <a:r>
              <a:t>Réponse souvent manuelle</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Opportunité</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SOC Azure prêt à déployer</a:t>
            </a:r>
          </a:p>
          <a:p>
            <a:pPr>
              <a:spcAft>
                <a:spcPts val="500"/>
              </a:spcAft>
              <a:defRPr sz="1030">
                <a:solidFill>
                  <a:srgbClr val="053146"/>
                </a:solidFill>
                <a:latin typeface="Aptos"/>
              </a:defRPr>
            </a:pPr>
            <a:r>
              <a:t>Automatisation SOAR</a:t>
            </a:r>
          </a:p>
          <a:p>
            <a:pPr>
              <a:spcAft>
                <a:spcPts val="500"/>
              </a:spcAft>
              <a:defRPr sz="1030">
                <a:solidFill>
                  <a:srgbClr val="053146"/>
                </a:solidFill>
                <a:latin typeface="Aptos"/>
              </a:defRPr>
            </a:pPr>
            <a:r>
              <a:t>Coût maîtrisé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2/7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18</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Segments de clientèle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Les utilisateurs et acheteurs potentiels</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PME / startups</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Budget limité</a:t>
            </a:r>
          </a:p>
          <a:p>
            <a:pPr>
              <a:spcAft>
                <a:spcPts val="500"/>
              </a:spcAft>
              <a:defRPr sz="1030">
                <a:solidFill>
                  <a:srgbClr val="053146"/>
                </a:solidFill>
                <a:latin typeface="Aptos"/>
              </a:defRPr>
            </a:pPr>
            <a:r>
              <a:t>Besoin de visibilité</a:t>
            </a:r>
          </a:p>
          <a:p>
            <a:pPr>
              <a:spcAft>
                <a:spcPts val="500"/>
              </a:spcAft>
              <a:defRPr sz="1030">
                <a:solidFill>
                  <a:srgbClr val="053146"/>
                </a:solidFill>
                <a:latin typeface="Aptos"/>
              </a:defRPr>
            </a:pPr>
            <a:r>
              <a:t>Protection rapide</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RSSI / SOC</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Réduction de l'alert fatigue</a:t>
            </a:r>
          </a:p>
          <a:p>
            <a:pPr>
              <a:spcAft>
                <a:spcPts val="500"/>
              </a:spcAft>
              <a:defRPr sz="1030">
                <a:solidFill>
                  <a:srgbClr val="053146"/>
                </a:solidFill>
                <a:latin typeface="Aptos"/>
              </a:defRPr>
            </a:pPr>
            <a:r>
              <a:t>Centralisation SIEM</a:t>
            </a:r>
          </a:p>
          <a:p>
            <a:pPr>
              <a:spcAft>
                <a:spcPts val="500"/>
              </a:spcAft>
              <a:defRPr sz="1030">
                <a:solidFill>
                  <a:srgbClr val="053146"/>
                </a:solidFill>
                <a:latin typeface="Aptos"/>
              </a:defRPr>
            </a:pPr>
            <a:r>
              <a:t>Réponse automatisée</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MSSP / écoles</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Plateforme réplicable</a:t>
            </a:r>
          </a:p>
          <a:p>
            <a:pPr>
              <a:spcAft>
                <a:spcPts val="500"/>
              </a:spcAft>
              <a:defRPr sz="1030">
                <a:solidFill>
                  <a:srgbClr val="053146"/>
                </a:solidFill>
                <a:latin typeface="Aptos"/>
              </a:defRPr>
            </a:pPr>
            <a:r>
              <a:t>Support pédagogique</a:t>
            </a:r>
          </a:p>
          <a:p>
            <a:pPr>
              <a:spcAft>
                <a:spcPts val="500"/>
              </a:spcAft>
              <a:defRPr sz="1030">
                <a:solidFill>
                  <a:srgbClr val="053146"/>
                </a:solidFill>
                <a:latin typeface="Aptos"/>
              </a:defRPr>
            </a:pPr>
            <a:r>
              <a:t>Base pour services managés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3/7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19</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Proposition de valeur</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Ce que AITDR apporte au client</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Technique</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Détection temps réel</a:t>
            </a:r>
          </a:p>
          <a:p>
            <a:pPr>
              <a:spcAft>
                <a:spcPts val="500"/>
              </a:spcAft>
              <a:defRPr sz="1030">
                <a:solidFill>
                  <a:srgbClr val="053146"/>
                </a:solidFill>
                <a:latin typeface="Aptos"/>
              </a:defRPr>
            </a:pPr>
            <a:r>
              <a:t>SIEM + SOAR + ML</a:t>
            </a:r>
          </a:p>
          <a:p>
            <a:pPr>
              <a:spcAft>
                <a:spcPts val="500"/>
              </a:spcAft>
              <a:defRPr sz="1030">
                <a:solidFill>
                  <a:srgbClr val="053146"/>
                </a:solidFill>
                <a:latin typeface="Aptos"/>
              </a:defRPr>
            </a:pPr>
            <a:r>
              <a:t>Déploiement Terraform</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Opérationnelle</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MTTD réduit</a:t>
            </a:r>
          </a:p>
          <a:p>
            <a:pPr>
              <a:spcAft>
                <a:spcPts val="500"/>
              </a:spcAft>
              <a:defRPr sz="1030">
                <a:solidFill>
                  <a:srgbClr val="053146"/>
                </a:solidFill>
                <a:latin typeface="Aptos"/>
              </a:defRPr>
            </a:pPr>
            <a:r>
              <a:t>Blocage automatique</a:t>
            </a:r>
          </a:p>
          <a:p>
            <a:pPr>
              <a:spcAft>
                <a:spcPts val="500"/>
              </a:spcAft>
              <a:defRPr sz="1030">
                <a:solidFill>
                  <a:srgbClr val="053146"/>
                </a:solidFill>
                <a:latin typeface="Aptos"/>
              </a:defRPr>
            </a:pPr>
            <a:r>
              <a:t>Moins d'interventions manuelles</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Économique</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Prototype sous 100 USD</a:t>
            </a:r>
          </a:p>
          <a:p>
            <a:pPr>
              <a:spcAft>
                <a:spcPts val="500"/>
              </a:spcAft>
              <a:defRPr sz="1030">
                <a:solidFill>
                  <a:srgbClr val="053146"/>
                </a:solidFill>
                <a:latin typeface="Aptos"/>
              </a:defRPr>
            </a:pPr>
            <a:r>
              <a:t>Alternative aux SIEM coûteux</a:t>
            </a:r>
          </a:p>
          <a:p>
            <a:pPr>
              <a:spcAft>
                <a:spcPts val="500"/>
              </a:spcAft>
              <a:defRPr sz="1030">
                <a:solidFill>
                  <a:srgbClr val="053146"/>
                </a:solidFill>
                <a:latin typeface="Aptos"/>
              </a:defRPr>
            </a:pPr>
            <a:r>
              <a:t>Offres progressives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4/7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20</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Business Model Canvas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Le modèle d'affaires de AITDR</a:t>
            </a:r>
          </a:p>
        </p:txBody>
      </p:sp>
      <p:sp>
        <p:nvSpPr>
          <p:cNvPr id="18" name="Rounded Rectangle 17"/>
          <p:cNvSpPr/>
          <p:nvPr/>
        </p:nvSpPr>
        <p:spPr>
          <a:xfrm>
            <a:off x="658368" y="1371600"/>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371600"/>
            <a:ext cx="73152" cy="109728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536192"/>
            <a:ext cx="2916936" cy="274320"/>
          </a:xfrm>
          <a:prstGeom prst="rect">
            <a:avLst/>
          </a:prstGeom>
          <a:noFill/>
        </p:spPr>
        <p:txBody>
          <a:bodyPr wrap="square" lIns="0" rIns="0" tIns="0" bIns="0">
            <a:spAutoFit/>
          </a:bodyPr>
          <a:lstStyle/>
          <a:p>
            <a:pPr algn="l"/>
            <a:r>
              <a:rPr sz="1300" b="1" i="0">
                <a:solidFill>
                  <a:srgbClr val="074662"/>
                </a:solidFill>
                <a:latin typeface="Aptos"/>
              </a:rPr>
              <a:t>Partenaires clés</a:t>
            </a:r>
          </a:p>
        </p:txBody>
      </p:sp>
      <p:sp>
        <p:nvSpPr>
          <p:cNvPr id="21" name="TextBox 20"/>
          <p:cNvSpPr txBox="1"/>
          <p:nvPr/>
        </p:nvSpPr>
        <p:spPr>
          <a:xfrm>
            <a:off x="886968" y="1965960"/>
            <a:ext cx="2862072" cy="365759"/>
          </a:xfrm>
          <a:prstGeom prst="rect">
            <a:avLst/>
          </a:prstGeom>
          <a:noFill/>
        </p:spPr>
        <p:txBody>
          <a:bodyPr wrap="square">
            <a:spAutoFit/>
          </a:bodyPr>
          <a:lstStyle/>
          <a:p>
            <a:pPr>
              <a:spcAft>
                <a:spcPts val="500"/>
              </a:spcAft>
              <a:defRPr sz="1030">
                <a:solidFill>
                  <a:srgbClr val="053146"/>
                </a:solidFill>
                <a:latin typeface="Aptos"/>
              </a:defRPr>
            </a:pPr>
            <a:r>
              <a:t>Microsoft Azure</a:t>
            </a:r>
            <a:br/>
            <a:r>
              <a:t>Open source</a:t>
            </a:r>
            <a:br/>
            <a:r>
              <a:t>Écoles / MSSP</a:t>
            </a:r>
          </a:p>
        </p:txBody>
      </p:sp>
      <p:sp>
        <p:nvSpPr>
          <p:cNvPr id="22" name="Rounded Rectangle 21"/>
          <p:cNvSpPr/>
          <p:nvPr/>
        </p:nvSpPr>
        <p:spPr>
          <a:xfrm>
            <a:off x="4361688" y="1371600"/>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1688" y="1371600"/>
            <a:ext cx="73152" cy="109728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2855" y="1536192"/>
            <a:ext cx="2916936" cy="274320"/>
          </a:xfrm>
          <a:prstGeom prst="rect">
            <a:avLst/>
          </a:prstGeom>
          <a:noFill/>
        </p:spPr>
        <p:txBody>
          <a:bodyPr wrap="square" lIns="0" rIns="0" tIns="0" bIns="0">
            <a:spAutoFit/>
          </a:bodyPr>
          <a:lstStyle/>
          <a:p>
            <a:pPr algn="l"/>
            <a:r>
              <a:rPr sz="1300" b="1" i="0">
                <a:solidFill>
                  <a:srgbClr val="074662"/>
                </a:solidFill>
                <a:latin typeface="Aptos"/>
              </a:rPr>
              <a:t>Activités clés</a:t>
            </a:r>
          </a:p>
        </p:txBody>
      </p:sp>
      <p:sp>
        <p:nvSpPr>
          <p:cNvPr id="25" name="TextBox 24"/>
          <p:cNvSpPr txBox="1"/>
          <p:nvPr/>
        </p:nvSpPr>
        <p:spPr>
          <a:xfrm>
            <a:off x="4590288" y="1965960"/>
            <a:ext cx="2862072" cy="365759"/>
          </a:xfrm>
          <a:prstGeom prst="rect">
            <a:avLst/>
          </a:prstGeom>
          <a:noFill/>
        </p:spPr>
        <p:txBody>
          <a:bodyPr wrap="square">
            <a:spAutoFit/>
          </a:bodyPr>
          <a:lstStyle/>
          <a:p>
            <a:pPr>
              <a:spcAft>
                <a:spcPts val="500"/>
              </a:spcAft>
              <a:defRPr sz="1030">
                <a:solidFill>
                  <a:srgbClr val="053146"/>
                </a:solidFill>
                <a:latin typeface="Aptos"/>
              </a:defRPr>
            </a:pPr>
            <a:r>
              <a:t>Terraform</a:t>
            </a:r>
            <a:br/>
            <a:r>
              <a:t>KQL / SOAR</a:t>
            </a:r>
            <a:br/>
            <a:r>
              <a:t>ML et support</a:t>
            </a:r>
          </a:p>
        </p:txBody>
      </p:sp>
      <p:sp>
        <p:nvSpPr>
          <p:cNvPr id="26" name="Rounded Rectangle 25"/>
          <p:cNvSpPr/>
          <p:nvPr/>
        </p:nvSpPr>
        <p:spPr>
          <a:xfrm>
            <a:off x="8065008" y="1371600"/>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65008" y="1371600"/>
            <a:ext cx="73152" cy="109728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6" y="1536192"/>
            <a:ext cx="2916936" cy="274320"/>
          </a:xfrm>
          <a:prstGeom prst="rect">
            <a:avLst/>
          </a:prstGeom>
          <a:noFill/>
        </p:spPr>
        <p:txBody>
          <a:bodyPr wrap="square" lIns="0" rIns="0" tIns="0" bIns="0">
            <a:spAutoFit/>
          </a:bodyPr>
          <a:lstStyle/>
          <a:p>
            <a:pPr algn="l"/>
            <a:r>
              <a:rPr sz="1300" b="1" i="0">
                <a:solidFill>
                  <a:srgbClr val="074662"/>
                </a:solidFill>
                <a:latin typeface="Aptos"/>
              </a:rPr>
              <a:t>Proposition de valeur</a:t>
            </a:r>
          </a:p>
        </p:txBody>
      </p:sp>
      <p:sp>
        <p:nvSpPr>
          <p:cNvPr id="29" name="TextBox 28"/>
          <p:cNvSpPr txBox="1"/>
          <p:nvPr/>
        </p:nvSpPr>
        <p:spPr>
          <a:xfrm>
            <a:off x="8293608" y="1965960"/>
            <a:ext cx="2862072" cy="365759"/>
          </a:xfrm>
          <a:prstGeom prst="rect">
            <a:avLst/>
          </a:prstGeom>
          <a:noFill/>
        </p:spPr>
        <p:txBody>
          <a:bodyPr wrap="square">
            <a:spAutoFit/>
          </a:bodyPr>
          <a:lstStyle/>
          <a:p>
            <a:pPr>
              <a:spcAft>
                <a:spcPts val="500"/>
              </a:spcAft>
              <a:defRPr sz="1030">
                <a:solidFill>
                  <a:srgbClr val="053146"/>
                </a:solidFill>
                <a:latin typeface="Aptos"/>
              </a:defRPr>
            </a:pPr>
            <a:r>
              <a:t>SOC cloud intelligent,</a:t>
            </a:r>
            <a:br/>
            <a:r>
              <a:t>automatisé et économique</a:t>
            </a:r>
          </a:p>
        </p:txBody>
      </p:sp>
      <p:sp>
        <p:nvSpPr>
          <p:cNvPr id="30" name="Rounded Rectangle 29"/>
          <p:cNvSpPr/>
          <p:nvPr/>
        </p:nvSpPr>
        <p:spPr>
          <a:xfrm>
            <a:off x="658368" y="2852928"/>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2852928"/>
            <a:ext cx="73152" cy="109728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3017520"/>
            <a:ext cx="2916936" cy="274320"/>
          </a:xfrm>
          <a:prstGeom prst="rect">
            <a:avLst/>
          </a:prstGeom>
          <a:noFill/>
        </p:spPr>
        <p:txBody>
          <a:bodyPr wrap="square" lIns="0" rIns="0" tIns="0" bIns="0">
            <a:spAutoFit/>
          </a:bodyPr>
          <a:lstStyle/>
          <a:p>
            <a:pPr algn="l"/>
            <a:r>
              <a:rPr sz="1300" b="1" i="0">
                <a:solidFill>
                  <a:srgbClr val="074662"/>
                </a:solidFill>
                <a:latin typeface="Aptos"/>
              </a:rPr>
              <a:t>Relations clients</a:t>
            </a:r>
          </a:p>
        </p:txBody>
      </p:sp>
      <p:sp>
        <p:nvSpPr>
          <p:cNvPr id="33" name="TextBox 32"/>
          <p:cNvSpPr txBox="1"/>
          <p:nvPr/>
        </p:nvSpPr>
        <p:spPr>
          <a:xfrm>
            <a:off x="886968" y="3447288"/>
            <a:ext cx="2862072" cy="365759"/>
          </a:xfrm>
          <a:prstGeom prst="rect">
            <a:avLst/>
          </a:prstGeom>
          <a:noFill/>
        </p:spPr>
        <p:txBody>
          <a:bodyPr wrap="square">
            <a:spAutoFit/>
          </a:bodyPr>
          <a:lstStyle/>
          <a:p>
            <a:pPr>
              <a:spcAft>
                <a:spcPts val="500"/>
              </a:spcAft>
              <a:defRPr sz="1030">
                <a:solidFill>
                  <a:srgbClr val="053146"/>
                </a:solidFill>
                <a:latin typeface="Aptos"/>
              </a:defRPr>
            </a:pPr>
            <a:r>
              <a:t>Documentation</a:t>
            </a:r>
            <a:br/>
            <a:r>
              <a:t>Onboarding</a:t>
            </a:r>
            <a:br/>
            <a:r>
              <a:t>Support</a:t>
            </a:r>
          </a:p>
        </p:txBody>
      </p:sp>
      <p:sp>
        <p:nvSpPr>
          <p:cNvPr id="34" name="Rounded Rectangle 33"/>
          <p:cNvSpPr/>
          <p:nvPr/>
        </p:nvSpPr>
        <p:spPr>
          <a:xfrm>
            <a:off x="4361688" y="2852928"/>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61688" y="2852928"/>
            <a:ext cx="73152" cy="109728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62855" y="3017520"/>
            <a:ext cx="2916936" cy="274320"/>
          </a:xfrm>
          <a:prstGeom prst="rect">
            <a:avLst/>
          </a:prstGeom>
          <a:noFill/>
        </p:spPr>
        <p:txBody>
          <a:bodyPr wrap="square" lIns="0" rIns="0" tIns="0" bIns="0">
            <a:spAutoFit/>
          </a:bodyPr>
          <a:lstStyle/>
          <a:p>
            <a:pPr algn="l"/>
            <a:r>
              <a:rPr sz="1300" b="1" i="0">
                <a:solidFill>
                  <a:srgbClr val="074662"/>
                </a:solidFill>
                <a:latin typeface="Aptos"/>
              </a:rPr>
              <a:t>Segments clients</a:t>
            </a:r>
          </a:p>
        </p:txBody>
      </p:sp>
      <p:sp>
        <p:nvSpPr>
          <p:cNvPr id="37" name="TextBox 36"/>
          <p:cNvSpPr txBox="1"/>
          <p:nvPr/>
        </p:nvSpPr>
        <p:spPr>
          <a:xfrm>
            <a:off x="4590288" y="3447288"/>
            <a:ext cx="2862072" cy="365759"/>
          </a:xfrm>
          <a:prstGeom prst="rect">
            <a:avLst/>
          </a:prstGeom>
          <a:noFill/>
        </p:spPr>
        <p:txBody>
          <a:bodyPr wrap="square">
            <a:spAutoFit/>
          </a:bodyPr>
          <a:lstStyle/>
          <a:p>
            <a:pPr>
              <a:spcAft>
                <a:spcPts val="500"/>
              </a:spcAft>
              <a:defRPr sz="1030">
                <a:solidFill>
                  <a:srgbClr val="053146"/>
                </a:solidFill>
                <a:latin typeface="Aptos"/>
              </a:defRPr>
            </a:pPr>
            <a:r>
              <a:t>PME, startups</a:t>
            </a:r>
            <a:br/>
            <a:r>
              <a:t>RSSI, MSSP</a:t>
            </a:r>
            <a:br/>
            <a:r>
              <a:t>Écoles</a:t>
            </a:r>
          </a:p>
        </p:txBody>
      </p:sp>
      <p:sp>
        <p:nvSpPr>
          <p:cNvPr id="38" name="Rounded Rectangle 37"/>
          <p:cNvSpPr/>
          <p:nvPr/>
        </p:nvSpPr>
        <p:spPr>
          <a:xfrm>
            <a:off x="8065008" y="2852928"/>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65008" y="2852928"/>
            <a:ext cx="73152" cy="109728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66176" y="3017520"/>
            <a:ext cx="2916936" cy="274320"/>
          </a:xfrm>
          <a:prstGeom prst="rect">
            <a:avLst/>
          </a:prstGeom>
          <a:noFill/>
        </p:spPr>
        <p:txBody>
          <a:bodyPr wrap="square" lIns="0" rIns="0" tIns="0" bIns="0">
            <a:spAutoFit/>
          </a:bodyPr>
          <a:lstStyle/>
          <a:p>
            <a:pPr algn="l"/>
            <a:r>
              <a:rPr sz="1300" b="1" i="0">
                <a:solidFill>
                  <a:srgbClr val="074662"/>
                </a:solidFill>
                <a:latin typeface="Aptos"/>
              </a:rPr>
              <a:t>Ressources clés</a:t>
            </a:r>
          </a:p>
        </p:txBody>
      </p:sp>
      <p:sp>
        <p:nvSpPr>
          <p:cNvPr id="41" name="TextBox 40"/>
          <p:cNvSpPr txBox="1"/>
          <p:nvPr/>
        </p:nvSpPr>
        <p:spPr>
          <a:xfrm>
            <a:off x="8293608" y="3447288"/>
            <a:ext cx="2862072" cy="365759"/>
          </a:xfrm>
          <a:prstGeom prst="rect">
            <a:avLst/>
          </a:prstGeom>
          <a:noFill/>
        </p:spPr>
        <p:txBody>
          <a:bodyPr wrap="square">
            <a:spAutoFit/>
          </a:bodyPr>
          <a:lstStyle/>
          <a:p>
            <a:pPr>
              <a:spcAft>
                <a:spcPts val="500"/>
              </a:spcAft>
              <a:defRPr sz="1030">
                <a:solidFill>
                  <a:srgbClr val="053146"/>
                </a:solidFill>
                <a:latin typeface="Aptos"/>
              </a:defRPr>
            </a:pPr>
            <a:r>
              <a:t>Azure, Sentinel</a:t>
            </a:r>
            <a:br/>
            <a:r>
              <a:t>SQL, Logic Apps</a:t>
            </a:r>
            <a:br/>
            <a:r>
              <a:t>Scripts Python</a:t>
            </a:r>
          </a:p>
        </p:txBody>
      </p:sp>
      <p:sp>
        <p:nvSpPr>
          <p:cNvPr id="42" name="Rounded Rectangle 41"/>
          <p:cNvSpPr/>
          <p:nvPr/>
        </p:nvSpPr>
        <p:spPr>
          <a:xfrm>
            <a:off x="658368" y="4334256"/>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4334256"/>
            <a:ext cx="73152" cy="109728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536" y="4498848"/>
            <a:ext cx="2916936" cy="274320"/>
          </a:xfrm>
          <a:prstGeom prst="rect">
            <a:avLst/>
          </a:prstGeom>
          <a:noFill/>
        </p:spPr>
        <p:txBody>
          <a:bodyPr wrap="square" lIns="0" rIns="0" tIns="0" bIns="0">
            <a:spAutoFit/>
          </a:bodyPr>
          <a:lstStyle/>
          <a:p>
            <a:pPr algn="l"/>
            <a:r>
              <a:rPr sz="1300" b="1" i="0">
                <a:solidFill>
                  <a:srgbClr val="074662"/>
                </a:solidFill>
                <a:latin typeface="Aptos"/>
              </a:rPr>
              <a:t>Canaux</a:t>
            </a:r>
          </a:p>
        </p:txBody>
      </p:sp>
      <p:sp>
        <p:nvSpPr>
          <p:cNvPr id="45" name="TextBox 44"/>
          <p:cNvSpPr txBox="1"/>
          <p:nvPr/>
        </p:nvSpPr>
        <p:spPr>
          <a:xfrm>
            <a:off x="886968" y="4928616"/>
            <a:ext cx="2862072" cy="365759"/>
          </a:xfrm>
          <a:prstGeom prst="rect">
            <a:avLst/>
          </a:prstGeom>
          <a:noFill/>
        </p:spPr>
        <p:txBody>
          <a:bodyPr wrap="square">
            <a:spAutoFit/>
          </a:bodyPr>
          <a:lstStyle/>
          <a:p>
            <a:pPr>
              <a:spcAft>
                <a:spcPts val="500"/>
              </a:spcAft>
              <a:defRPr sz="1030">
                <a:solidFill>
                  <a:srgbClr val="053146"/>
                </a:solidFill>
                <a:latin typeface="Aptos"/>
              </a:defRPr>
            </a:pPr>
            <a:r>
              <a:t>GitHub</a:t>
            </a:r>
            <a:br/>
            <a:r>
              <a:t>Azure Marketplace</a:t>
            </a:r>
            <a:br/>
            <a:r>
              <a:t>LinkedIn</a:t>
            </a:r>
          </a:p>
        </p:txBody>
      </p:sp>
      <p:sp>
        <p:nvSpPr>
          <p:cNvPr id="46" name="Rounded Rectangle 45"/>
          <p:cNvSpPr/>
          <p:nvPr/>
        </p:nvSpPr>
        <p:spPr>
          <a:xfrm>
            <a:off x="4361688" y="4334256"/>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361688" y="4334256"/>
            <a:ext cx="73152" cy="109728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62855" y="4498848"/>
            <a:ext cx="2916936" cy="274320"/>
          </a:xfrm>
          <a:prstGeom prst="rect">
            <a:avLst/>
          </a:prstGeom>
          <a:noFill/>
        </p:spPr>
        <p:txBody>
          <a:bodyPr wrap="square" lIns="0" rIns="0" tIns="0" bIns="0">
            <a:spAutoFit/>
          </a:bodyPr>
          <a:lstStyle/>
          <a:p>
            <a:pPr algn="l"/>
            <a:r>
              <a:rPr sz="1300" b="1" i="0">
                <a:solidFill>
                  <a:srgbClr val="074662"/>
                </a:solidFill>
                <a:latin typeface="Aptos"/>
              </a:rPr>
              <a:t>Structure de coûts</a:t>
            </a:r>
          </a:p>
        </p:txBody>
      </p:sp>
      <p:sp>
        <p:nvSpPr>
          <p:cNvPr id="49" name="TextBox 48"/>
          <p:cNvSpPr txBox="1"/>
          <p:nvPr/>
        </p:nvSpPr>
        <p:spPr>
          <a:xfrm>
            <a:off x="4590288" y="4928616"/>
            <a:ext cx="2862072" cy="365759"/>
          </a:xfrm>
          <a:prstGeom prst="rect">
            <a:avLst/>
          </a:prstGeom>
          <a:noFill/>
        </p:spPr>
        <p:txBody>
          <a:bodyPr wrap="square">
            <a:spAutoFit/>
          </a:bodyPr>
          <a:lstStyle/>
          <a:p>
            <a:pPr>
              <a:spcAft>
                <a:spcPts val="500"/>
              </a:spcAft>
              <a:defRPr sz="1030">
                <a:solidFill>
                  <a:srgbClr val="053146"/>
                </a:solidFill>
                <a:latin typeface="Aptos"/>
              </a:defRPr>
            </a:pPr>
            <a:r>
              <a:t>Infrastructure Azure</a:t>
            </a:r>
            <a:br/>
            <a:r>
              <a:t>Maintenance</a:t>
            </a:r>
            <a:br/>
            <a:r>
              <a:t>Support / R&amp;D</a:t>
            </a:r>
          </a:p>
        </p:txBody>
      </p:sp>
      <p:sp>
        <p:nvSpPr>
          <p:cNvPr id="50" name="Rounded Rectangle 49"/>
          <p:cNvSpPr/>
          <p:nvPr/>
        </p:nvSpPr>
        <p:spPr>
          <a:xfrm>
            <a:off x="8065008" y="4334256"/>
            <a:ext cx="3246120" cy="10972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065008" y="4334256"/>
            <a:ext cx="73152" cy="109728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66176" y="4498848"/>
            <a:ext cx="2916936" cy="274320"/>
          </a:xfrm>
          <a:prstGeom prst="rect">
            <a:avLst/>
          </a:prstGeom>
          <a:noFill/>
        </p:spPr>
        <p:txBody>
          <a:bodyPr wrap="square" lIns="0" rIns="0" tIns="0" bIns="0">
            <a:spAutoFit/>
          </a:bodyPr>
          <a:lstStyle/>
          <a:p>
            <a:pPr algn="l"/>
            <a:r>
              <a:rPr sz="1300" b="1" i="0">
                <a:solidFill>
                  <a:srgbClr val="074662"/>
                </a:solidFill>
                <a:latin typeface="Aptos"/>
              </a:rPr>
              <a:t>Sources de revenus</a:t>
            </a:r>
          </a:p>
        </p:txBody>
      </p:sp>
      <p:sp>
        <p:nvSpPr>
          <p:cNvPr id="53" name="TextBox 52"/>
          <p:cNvSpPr txBox="1"/>
          <p:nvPr/>
        </p:nvSpPr>
        <p:spPr>
          <a:xfrm>
            <a:off x="8293608" y="4928616"/>
            <a:ext cx="2862072" cy="365759"/>
          </a:xfrm>
          <a:prstGeom prst="rect">
            <a:avLst/>
          </a:prstGeom>
          <a:noFill/>
        </p:spPr>
        <p:txBody>
          <a:bodyPr wrap="square">
            <a:spAutoFit/>
          </a:bodyPr>
          <a:lstStyle/>
          <a:p>
            <a:pPr>
              <a:spcAft>
                <a:spcPts val="500"/>
              </a:spcAft>
              <a:defRPr sz="1030">
                <a:solidFill>
                  <a:srgbClr val="053146"/>
                </a:solidFill>
                <a:latin typeface="Aptos"/>
              </a:defRPr>
            </a:pPr>
            <a:r>
              <a:t>Freemium</a:t>
            </a:r>
            <a:br/>
            <a:r>
              <a:t>SaaS</a:t>
            </a:r>
            <a:br/>
            <a:r>
              <a:t>Enterprise / formation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5/7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21</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Analyse concurrentielle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Positionnement face aux solutions existantes</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2708910"/>
                <a:gridCol w="2708910"/>
                <a:gridCol w="2708910"/>
                <a:gridCol w="2708910"/>
              </a:tblGrid>
              <a:tr h="723900">
                <a:tc>
                  <a:txBody>
                    <a:bodyPr/>
                    <a:lstStyle/>
                    <a:p>
                      <a:pPr>
                        <a:defRPr sz="850" b="1">
                          <a:solidFill>
                            <a:srgbClr val="FFFFFF"/>
                          </a:solidFill>
                          <a:latin typeface="Aptos"/>
                        </a:defRPr>
                      </a:pPr>
                      <a:r>
                        <a:t>Solution</a:t>
                      </a:r>
                    </a:p>
                  </a:txBody>
                  <a:tcPr marL="54864" marR="54864" marT="36576" marB="36576">
                    <a:solidFill>
                      <a:srgbClr val="074662"/>
                    </a:solidFill>
                  </a:tcPr>
                </a:tc>
                <a:tc>
                  <a:txBody>
                    <a:bodyPr/>
                    <a:lstStyle/>
                    <a:p>
                      <a:pPr>
                        <a:defRPr sz="850" b="1">
                          <a:solidFill>
                            <a:srgbClr val="FFFFFF"/>
                          </a:solidFill>
                          <a:latin typeface="Aptos"/>
                        </a:defRPr>
                      </a:pPr>
                      <a:r>
                        <a:t>Forces</a:t>
                      </a:r>
                    </a:p>
                  </a:txBody>
                  <a:tcPr marL="54864" marR="54864" marT="36576" marB="36576">
                    <a:solidFill>
                      <a:srgbClr val="074662"/>
                    </a:solidFill>
                  </a:tcPr>
                </a:tc>
                <a:tc>
                  <a:txBody>
                    <a:bodyPr/>
                    <a:lstStyle/>
                    <a:p>
                      <a:pPr>
                        <a:defRPr sz="850" b="1">
                          <a:solidFill>
                            <a:srgbClr val="FFFFFF"/>
                          </a:solidFill>
                          <a:latin typeface="Aptos"/>
                        </a:defRPr>
                      </a:pPr>
                      <a:r>
                        <a:t>Limites</a:t>
                      </a:r>
                    </a:p>
                  </a:txBody>
                  <a:tcPr marL="54864" marR="54864" marT="36576" marB="36576">
                    <a:solidFill>
                      <a:srgbClr val="074662"/>
                    </a:solidFill>
                  </a:tcPr>
                </a:tc>
                <a:tc>
                  <a:txBody>
                    <a:bodyPr/>
                    <a:lstStyle/>
                    <a:p>
                      <a:pPr>
                        <a:defRPr sz="850" b="1">
                          <a:solidFill>
                            <a:srgbClr val="FFFFFF"/>
                          </a:solidFill>
                          <a:latin typeface="Aptos"/>
                        </a:defRPr>
                      </a:pPr>
                      <a:r>
                        <a:t>Position AITDR</a:t>
                      </a:r>
                    </a:p>
                  </a:txBody>
                  <a:tcPr marL="54864" marR="54864" marT="36576" marB="36576">
                    <a:solidFill>
                      <a:srgbClr val="074662"/>
                    </a:solidFill>
                  </a:tcPr>
                </a:tc>
              </a:tr>
              <a:tr h="723900">
                <a:tc>
                  <a:txBody>
                    <a:bodyPr/>
                    <a:lstStyle/>
                    <a:p>
                      <a:pPr>
                        <a:defRPr sz="850" b="0">
                          <a:solidFill>
                            <a:srgbClr val="053146"/>
                          </a:solidFill>
                          <a:latin typeface="Aptos"/>
                        </a:defRPr>
                      </a:pPr>
                      <a:r>
                        <a:t>Microsoft Sentinel</a:t>
                      </a:r>
                    </a:p>
                  </a:txBody>
                  <a:tcPr marL="54864" marR="54864" marT="36576" marB="36576">
                    <a:solidFill>
                      <a:srgbClr val="FFFFFF"/>
                    </a:solidFill>
                  </a:tcPr>
                </a:tc>
                <a:tc>
                  <a:txBody>
                    <a:bodyPr/>
                    <a:lstStyle/>
                    <a:p>
                      <a:pPr>
                        <a:defRPr sz="850" b="0">
                          <a:solidFill>
                            <a:srgbClr val="053146"/>
                          </a:solidFill>
                          <a:latin typeface="Aptos"/>
                        </a:defRPr>
                      </a:pPr>
                      <a:r>
                        <a:t>Azure natif, puissant</a:t>
                      </a:r>
                    </a:p>
                  </a:txBody>
                  <a:tcPr marL="54864" marR="54864" marT="36576" marB="36576">
                    <a:solidFill>
                      <a:srgbClr val="FFFFFF"/>
                    </a:solidFill>
                  </a:tcPr>
                </a:tc>
                <a:tc>
                  <a:txBody>
                    <a:bodyPr/>
                    <a:lstStyle/>
                    <a:p>
                      <a:pPr>
                        <a:defRPr sz="850" b="0">
                          <a:solidFill>
                            <a:srgbClr val="053146"/>
                          </a:solidFill>
                          <a:latin typeface="Aptos"/>
                        </a:defRPr>
                      </a:pPr>
                      <a:r>
                        <a:t>Configuration et coût</a:t>
                      </a:r>
                    </a:p>
                  </a:txBody>
                  <a:tcPr marL="54864" marR="54864" marT="36576" marB="36576">
                    <a:solidFill>
                      <a:srgbClr val="FFFFFF"/>
                    </a:solidFill>
                  </a:tcPr>
                </a:tc>
                <a:tc>
                  <a:txBody>
                    <a:bodyPr/>
                    <a:lstStyle/>
                    <a:p>
                      <a:pPr>
                        <a:defRPr sz="850" b="0">
                          <a:solidFill>
                            <a:srgbClr val="053146"/>
                          </a:solidFill>
                          <a:latin typeface="Aptos"/>
                        </a:defRPr>
                      </a:pPr>
                      <a:r>
                        <a:t>Version guidée et orientée PME</a:t>
                      </a:r>
                    </a:p>
                  </a:txBody>
                  <a:tcPr marL="54864" marR="54864" marT="36576" marB="36576">
                    <a:solidFill>
                      <a:srgbClr val="FFFFFF"/>
                    </a:solidFill>
                  </a:tcPr>
                </a:tc>
              </a:tr>
              <a:tr h="723900">
                <a:tc>
                  <a:txBody>
                    <a:bodyPr/>
                    <a:lstStyle/>
                    <a:p>
                      <a:pPr>
                        <a:defRPr sz="850" b="0">
                          <a:solidFill>
                            <a:srgbClr val="053146"/>
                          </a:solidFill>
                          <a:latin typeface="Aptos"/>
                        </a:defRPr>
                      </a:pPr>
                      <a:r>
                        <a:t>Splunk ES</a:t>
                      </a:r>
                    </a:p>
                  </a:txBody>
                  <a:tcPr marL="54864" marR="54864" marT="36576" marB="36576">
                    <a:solidFill>
                      <a:srgbClr val="F2F7F9"/>
                    </a:solidFill>
                  </a:tcPr>
                </a:tc>
                <a:tc>
                  <a:txBody>
                    <a:bodyPr/>
                    <a:lstStyle/>
                    <a:p>
                      <a:pPr>
                        <a:defRPr sz="850" b="0">
                          <a:solidFill>
                            <a:srgbClr val="053146"/>
                          </a:solidFill>
                          <a:latin typeface="Aptos"/>
                        </a:defRPr>
                      </a:pPr>
                      <a:r>
                        <a:t>Écosystème mature</a:t>
                      </a:r>
                    </a:p>
                  </a:txBody>
                  <a:tcPr marL="54864" marR="54864" marT="36576" marB="36576">
                    <a:solidFill>
                      <a:srgbClr val="F2F7F9"/>
                    </a:solidFill>
                  </a:tcPr>
                </a:tc>
                <a:tc>
                  <a:txBody>
                    <a:bodyPr/>
                    <a:lstStyle/>
                    <a:p>
                      <a:pPr>
                        <a:defRPr sz="850" b="0">
                          <a:solidFill>
                            <a:srgbClr val="053146"/>
                          </a:solidFill>
                          <a:latin typeface="Aptos"/>
                        </a:defRPr>
                      </a:pPr>
                      <a:r>
                        <a:t>Très coûteux</a:t>
                      </a:r>
                    </a:p>
                  </a:txBody>
                  <a:tcPr marL="54864" marR="54864" marT="36576" marB="36576">
                    <a:solidFill>
                      <a:srgbClr val="F2F7F9"/>
                    </a:solidFill>
                  </a:tcPr>
                </a:tc>
                <a:tc>
                  <a:txBody>
                    <a:bodyPr/>
                    <a:lstStyle/>
                    <a:p>
                      <a:pPr>
                        <a:defRPr sz="850" b="0">
                          <a:solidFill>
                            <a:srgbClr val="053146"/>
                          </a:solidFill>
                          <a:latin typeface="Aptos"/>
                        </a:defRPr>
                      </a:pPr>
                      <a:r>
                        <a:t>Alternative plus accessible</a:t>
                      </a:r>
                    </a:p>
                  </a:txBody>
                  <a:tcPr marL="54864" marR="54864" marT="36576" marB="36576">
                    <a:solidFill>
                      <a:srgbClr val="F2F7F9"/>
                    </a:solidFill>
                  </a:tcPr>
                </a:tc>
              </a:tr>
              <a:tr h="723900">
                <a:tc>
                  <a:txBody>
                    <a:bodyPr/>
                    <a:lstStyle/>
                    <a:p>
                      <a:pPr>
                        <a:defRPr sz="850" b="0">
                          <a:solidFill>
                            <a:srgbClr val="053146"/>
                          </a:solidFill>
                          <a:latin typeface="Aptos"/>
                        </a:defRPr>
                      </a:pPr>
                      <a:r>
                        <a:t>Elastic SIEM</a:t>
                      </a:r>
                    </a:p>
                  </a:txBody>
                  <a:tcPr marL="54864" marR="54864" marT="36576" marB="36576">
                    <a:solidFill>
                      <a:srgbClr val="FFFFFF"/>
                    </a:solidFill>
                  </a:tcPr>
                </a:tc>
                <a:tc>
                  <a:txBody>
                    <a:bodyPr/>
                    <a:lstStyle/>
                    <a:p>
                      <a:pPr>
                        <a:defRPr sz="850" b="0">
                          <a:solidFill>
                            <a:srgbClr val="053146"/>
                          </a:solidFill>
                          <a:latin typeface="Aptos"/>
                        </a:defRPr>
                      </a:pPr>
                      <a:r>
                        <a:t>Flexible, open source</a:t>
                      </a:r>
                    </a:p>
                  </a:txBody>
                  <a:tcPr marL="54864" marR="54864" marT="36576" marB="36576">
                    <a:solidFill>
                      <a:srgbClr val="FFFFFF"/>
                    </a:solidFill>
                  </a:tcPr>
                </a:tc>
                <a:tc>
                  <a:txBody>
                    <a:bodyPr/>
                    <a:lstStyle/>
                    <a:p>
                      <a:pPr>
                        <a:defRPr sz="850" b="0">
                          <a:solidFill>
                            <a:srgbClr val="053146"/>
                          </a:solidFill>
                          <a:latin typeface="Aptos"/>
                        </a:defRPr>
                      </a:pPr>
                      <a:r>
                        <a:t>Expertise requise</a:t>
                      </a:r>
                    </a:p>
                  </a:txBody>
                  <a:tcPr marL="54864" marR="54864" marT="36576" marB="36576">
                    <a:solidFill>
                      <a:srgbClr val="FFFFFF"/>
                    </a:solidFill>
                  </a:tcPr>
                </a:tc>
                <a:tc>
                  <a:txBody>
                    <a:bodyPr/>
                    <a:lstStyle/>
                    <a:p>
                      <a:pPr>
                        <a:defRPr sz="850" b="0">
                          <a:solidFill>
                            <a:srgbClr val="053146"/>
                          </a:solidFill>
                          <a:latin typeface="Aptos"/>
                        </a:defRPr>
                      </a:pPr>
                      <a:r>
                        <a:t>Déploiement Azure simplifié</a:t>
                      </a:r>
                    </a:p>
                  </a:txBody>
                  <a:tcPr marL="54864" marR="54864" marT="36576" marB="36576">
                    <a:solidFill>
                      <a:srgbClr val="FFFFFF"/>
                    </a:solidFill>
                  </a:tcPr>
                </a:tc>
              </a:tr>
              <a:tr h="723900">
                <a:tc>
                  <a:txBody>
                    <a:bodyPr/>
                    <a:lstStyle/>
                    <a:p>
                      <a:pPr>
                        <a:defRPr sz="850" b="0">
                          <a:solidFill>
                            <a:srgbClr val="053146"/>
                          </a:solidFill>
                          <a:latin typeface="Aptos"/>
                        </a:defRPr>
                      </a:pPr>
                      <a:r>
                        <a:t>IBM QRadar</a:t>
                      </a:r>
                    </a:p>
                  </a:txBody>
                  <a:tcPr marL="54864" marR="54864" marT="36576" marB="36576">
                    <a:solidFill>
                      <a:srgbClr val="F2F7F9"/>
                    </a:solidFill>
                  </a:tcPr>
                </a:tc>
                <a:tc>
                  <a:txBody>
                    <a:bodyPr/>
                    <a:lstStyle/>
                    <a:p>
                      <a:pPr>
                        <a:defRPr sz="850" b="0">
                          <a:solidFill>
                            <a:srgbClr val="053146"/>
                          </a:solidFill>
                          <a:latin typeface="Aptos"/>
                        </a:defRPr>
                      </a:pPr>
                      <a:r>
                        <a:t>Réputation enterprise</a:t>
                      </a:r>
                    </a:p>
                  </a:txBody>
                  <a:tcPr marL="54864" marR="54864" marT="36576" marB="36576">
                    <a:solidFill>
                      <a:srgbClr val="F2F7F9"/>
                    </a:solidFill>
                  </a:tcPr>
                </a:tc>
                <a:tc>
                  <a:txBody>
                    <a:bodyPr/>
                    <a:lstStyle/>
                    <a:p>
                      <a:pPr>
                        <a:defRPr sz="850" b="0">
                          <a:solidFill>
                            <a:srgbClr val="053146"/>
                          </a:solidFill>
                          <a:latin typeface="Aptos"/>
                        </a:defRPr>
                      </a:pPr>
                      <a:r>
                        <a:t>Coût élevé</a:t>
                      </a:r>
                    </a:p>
                  </a:txBody>
                  <a:tcPr marL="54864" marR="54864" marT="36576" marB="36576">
                    <a:solidFill>
                      <a:srgbClr val="F2F7F9"/>
                    </a:solidFill>
                  </a:tcPr>
                </a:tc>
                <a:tc>
                  <a:txBody>
                    <a:bodyPr/>
                    <a:lstStyle/>
                    <a:p>
                      <a:pPr>
                        <a:defRPr sz="850" b="0">
                          <a:solidFill>
                            <a:srgbClr val="053146"/>
                          </a:solidFill>
                          <a:latin typeface="Aptos"/>
                        </a:defRPr>
                      </a:pPr>
                      <a:r>
                        <a:t>Approche légère et pédagogique</a:t>
                      </a:r>
                    </a:p>
                  </a:txBody>
                  <a:tcPr marL="54864" marR="54864" marT="36576" marB="36576">
                    <a:solidFill>
                      <a:srgbClr val="F2F7F9"/>
                    </a:solidFill>
                  </a:tcPr>
                </a:tc>
              </a:tr>
              <a:tr h="723900">
                <a:tc>
                  <a:txBody>
                    <a:bodyPr/>
                    <a:lstStyle/>
                    <a:p>
                      <a:pPr>
                        <a:defRPr sz="850" b="0">
                          <a:solidFill>
                            <a:srgbClr val="053146"/>
                          </a:solidFill>
                          <a:latin typeface="Aptos"/>
                        </a:defRPr>
                      </a:pPr>
                      <a:r>
                        <a:t>AITDR</a:t>
                      </a:r>
                    </a:p>
                  </a:txBody>
                  <a:tcPr marL="54864" marR="54864" marT="36576" marB="36576">
                    <a:solidFill>
                      <a:srgbClr val="FFFFFF"/>
                    </a:solidFill>
                  </a:tcPr>
                </a:tc>
                <a:tc>
                  <a:txBody>
                    <a:bodyPr/>
                    <a:lstStyle/>
                    <a:p>
                      <a:pPr>
                        <a:defRPr sz="850" b="0">
                          <a:solidFill>
                            <a:srgbClr val="053146"/>
                          </a:solidFill>
                          <a:latin typeface="Aptos"/>
                        </a:defRPr>
                      </a:pPr>
                      <a:r>
                        <a:t>Vertical et reproductible</a:t>
                      </a:r>
                    </a:p>
                  </a:txBody>
                  <a:tcPr marL="54864" marR="54864" marT="36576" marB="36576">
                    <a:solidFill>
                      <a:srgbClr val="FFFFFF"/>
                    </a:solidFill>
                  </a:tcPr>
                </a:tc>
                <a:tc>
                  <a:txBody>
                    <a:bodyPr/>
                    <a:lstStyle/>
                    <a:p>
                      <a:pPr>
                        <a:defRPr sz="850" b="0">
                          <a:solidFill>
                            <a:srgbClr val="053146"/>
                          </a:solidFill>
                          <a:latin typeface="Aptos"/>
                        </a:defRPr>
                      </a:pPr>
                      <a:r>
                        <a:t>Notoriété à construire</a:t>
                      </a:r>
                    </a:p>
                  </a:txBody>
                  <a:tcPr marL="54864" marR="54864" marT="36576" marB="36576">
                    <a:solidFill>
                      <a:srgbClr val="FFFFFF"/>
                    </a:solidFill>
                  </a:tcPr>
                </a:tc>
                <a:tc>
                  <a:txBody>
                    <a:bodyPr/>
                    <a:lstStyle/>
                    <a:p>
                      <a:pPr>
                        <a:defRPr sz="850" b="0">
                          <a:solidFill>
                            <a:srgbClr val="053146"/>
                          </a:solidFill>
                          <a:latin typeface="Aptos"/>
                        </a:defRPr>
                      </a:pPr>
                      <a:r>
                        <a:t>SOC complet à coût maîtrisé</a:t>
                      </a:r>
                    </a:p>
                  </a:txBody>
                  <a:tcPr marL="54864" marR="54864" marT="36576" marB="36576">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6/7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22</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Modèle de revenus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Des offres progressives selon la maturité client</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2708910"/>
                <a:gridCol w="2708910"/>
                <a:gridCol w="2708910"/>
                <a:gridCol w="2708910"/>
              </a:tblGrid>
              <a:tr h="868680">
                <a:tc>
                  <a:txBody>
                    <a:bodyPr/>
                    <a:lstStyle/>
                    <a:p>
                      <a:pPr>
                        <a:defRPr sz="850" b="1">
                          <a:solidFill>
                            <a:srgbClr val="FFFFFF"/>
                          </a:solidFill>
                          <a:latin typeface="Aptos"/>
                        </a:defRPr>
                      </a:pPr>
                      <a:r>
                        <a:t>Offre</a:t>
                      </a:r>
                    </a:p>
                  </a:txBody>
                  <a:tcPr marL="54864" marR="54864" marT="36576" marB="36576">
                    <a:solidFill>
                      <a:srgbClr val="074662"/>
                    </a:solidFill>
                  </a:tcPr>
                </a:tc>
                <a:tc>
                  <a:txBody>
                    <a:bodyPr/>
                    <a:lstStyle/>
                    <a:p>
                      <a:pPr>
                        <a:defRPr sz="850" b="1">
                          <a:solidFill>
                            <a:srgbClr val="FFFFFF"/>
                          </a:solidFill>
                          <a:latin typeface="Aptos"/>
                        </a:defRPr>
                      </a:pPr>
                      <a:r>
                        <a:t>Prix cible</a:t>
                      </a:r>
                    </a:p>
                  </a:txBody>
                  <a:tcPr marL="54864" marR="54864" marT="36576" marB="36576">
                    <a:solidFill>
                      <a:srgbClr val="074662"/>
                    </a:solidFill>
                  </a:tcPr>
                </a:tc>
                <a:tc>
                  <a:txBody>
                    <a:bodyPr/>
                    <a:lstStyle/>
                    <a:p>
                      <a:pPr>
                        <a:defRPr sz="850" b="1">
                          <a:solidFill>
                            <a:srgbClr val="FFFFFF"/>
                          </a:solidFill>
                          <a:latin typeface="Aptos"/>
                        </a:defRPr>
                      </a:pPr>
                      <a:r>
                        <a:t>Fonctionnalités</a:t>
                      </a:r>
                    </a:p>
                  </a:txBody>
                  <a:tcPr marL="54864" marR="54864" marT="36576" marB="36576">
                    <a:solidFill>
                      <a:srgbClr val="074662"/>
                    </a:solidFill>
                  </a:tcPr>
                </a:tc>
                <a:tc>
                  <a:txBody>
                    <a:bodyPr/>
                    <a:lstStyle/>
                    <a:p>
                      <a:pPr>
                        <a:defRPr sz="850" b="1">
                          <a:solidFill>
                            <a:srgbClr val="FFFFFF"/>
                          </a:solidFill>
                          <a:latin typeface="Aptos"/>
                        </a:defRPr>
                      </a:pPr>
                      <a:r>
                        <a:t>Cible</a:t>
                      </a:r>
                    </a:p>
                  </a:txBody>
                  <a:tcPr marL="54864" marR="54864" marT="36576" marB="36576">
                    <a:solidFill>
                      <a:srgbClr val="074662"/>
                    </a:solidFill>
                  </a:tcPr>
                </a:tc>
              </a:tr>
              <a:tr h="868680">
                <a:tc>
                  <a:txBody>
                    <a:bodyPr/>
                    <a:lstStyle/>
                    <a:p>
                      <a:pPr>
                        <a:defRPr sz="850" b="0">
                          <a:solidFill>
                            <a:srgbClr val="053146"/>
                          </a:solidFill>
                          <a:latin typeface="Aptos"/>
                        </a:defRPr>
                      </a:pPr>
                      <a:r>
                        <a:t>Discovery</a:t>
                      </a:r>
                    </a:p>
                  </a:txBody>
                  <a:tcPr marL="54864" marR="54864" marT="36576" marB="36576">
                    <a:solidFill>
                      <a:srgbClr val="FFFFFF"/>
                    </a:solidFill>
                  </a:tcPr>
                </a:tc>
                <a:tc>
                  <a:txBody>
                    <a:bodyPr/>
                    <a:lstStyle/>
                    <a:p>
                      <a:pPr>
                        <a:defRPr sz="850" b="0">
                          <a:solidFill>
                            <a:srgbClr val="053146"/>
                          </a:solidFill>
                          <a:latin typeface="Aptos"/>
                        </a:defRPr>
                      </a:pPr>
                      <a:r>
                        <a:t>Gratuit</a:t>
                      </a:r>
                    </a:p>
                  </a:txBody>
                  <a:tcPr marL="54864" marR="54864" marT="36576" marB="36576">
                    <a:solidFill>
                      <a:srgbClr val="FFFFFF"/>
                    </a:solidFill>
                  </a:tcPr>
                </a:tc>
                <a:tc>
                  <a:txBody>
                    <a:bodyPr/>
                    <a:lstStyle/>
                    <a:p>
                      <a:pPr>
                        <a:defRPr sz="850" b="0">
                          <a:solidFill>
                            <a:srgbClr val="053146"/>
                          </a:solidFill>
                          <a:latin typeface="Aptos"/>
                        </a:defRPr>
                      </a:pPr>
                      <a:r>
                        <a:t>Open source, documentation</a:t>
                      </a:r>
                    </a:p>
                  </a:txBody>
                  <a:tcPr marL="54864" marR="54864" marT="36576" marB="36576">
                    <a:solidFill>
                      <a:srgbClr val="FFFFFF"/>
                    </a:solidFill>
                  </a:tcPr>
                </a:tc>
                <a:tc>
                  <a:txBody>
                    <a:bodyPr/>
                    <a:lstStyle/>
                    <a:p>
                      <a:pPr>
                        <a:defRPr sz="850" b="0">
                          <a:solidFill>
                            <a:srgbClr val="053146"/>
                          </a:solidFill>
                          <a:latin typeface="Aptos"/>
                        </a:defRPr>
                      </a:pPr>
                      <a:r>
                        <a:t>Étudiants / chercheurs</a:t>
                      </a:r>
                    </a:p>
                  </a:txBody>
                  <a:tcPr marL="54864" marR="54864" marT="36576" marB="36576">
                    <a:solidFill>
                      <a:srgbClr val="FFFFFF"/>
                    </a:solidFill>
                  </a:tcPr>
                </a:tc>
              </a:tr>
              <a:tr h="868680">
                <a:tc>
                  <a:txBody>
                    <a:bodyPr/>
                    <a:lstStyle/>
                    <a:p>
                      <a:pPr>
                        <a:defRPr sz="850" b="0">
                          <a:solidFill>
                            <a:srgbClr val="053146"/>
                          </a:solidFill>
                          <a:latin typeface="Aptos"/>
                        </a:defRPr>
                      </a:pPr>
                      <a:r>
                        <a:t>Basic</a:t>
                      </a:r>
                    </a:p>
                  </a:txBody>
                  <a:tcPr marL="54864" marR="54864" marT="36576" marB="36576">
                    <a:solidFill>
                      <a:srgbClr val="F2F7F9"/>
                    </a:solidFill>
                  </a:tcPr>
                </a:tc>
                <a:tc>
                  <a:txBody>
                    <a:bodyPr/>
                    <a:lstStyle/>
                    <a:p>
                      <a:pPr>
                        <a:defRPr sz="850" b="0">
                          <a:solidFill>
                            <a:srgbClr val="053146"/>
                          </a:solidFill>
                          <a:latin typeface="Aptos"/>
                        </a:defRPr>
                      </a:pPr>
                      <a:r>
                        <a:t>1 200 MAD/mois</a:t>
                      </a:r>
                    </a:p>
                  </a:txBody>
                  <a:tcPr marL="54864" marR="54864" marT="36576" marB="36576">
                    <a:solidFill>
                      <a:srgbClr val="F2F7F9"/>
                    </a:solidFill>
                  </a:tcPr>
                </a:tc>
                <a:tc>
                  <a:txBody>
                    <a:bodyPr/>
                    <a:lstStyle/>
                    <a:p>
                      <a:pPr>
                        <a:defRPr sz="850" b="0">
                          <a:solidFill>
                            <a:srgbClr val="053146"/>
                          </a:solidFill>
                          <a:latin typeface="Aptos"/>
                        </a:defRPr>
                      </a:pPr>
                      <a:r>
                        <a:t>Honeypot, Sentinel, règles KQL</a:t>
                      </a:r>
                    </a:p>
                  </a:txBody>
                  <a:tcPr marL="54864" marR="54864" marT="36576" marB="36576">
                    <a:solidFill>
                      <a:srgbClr val="F2F7F9"/>
                    </a:solidFill>
                  </a:tcPr>
                </a:tc>
                <a:tc>
                  <a:txBody>
                    <a:bodyPr/>
                    <a:lstStyle/>
                    <a:p>
                      <a:pPr>
                        <a:defRPr sz="850" b="0">
                          <a:solidFill>
                            <a:srgbClr val="053146"/>
                          </a:solidFill>
                          <a:latin typeface="Aptos"/>
                        </a:defRPr>
                      </a:pPr>
                      <a:r>
                        <a:t>Micro-entreprises</a:t>
                      </a:r>
                    </a:p>
                  </a:txBody>
                  <a:tcPr marL="54864" marR="54864" marT="36576" marB="36576">
                    <a:solidFill>
                      <a:srgbClr val="F2F7F9"/>
                    </a:solidFill>
                  </a:tcPr>
                </a:tc>
              </a:tr>
              <a:tr h="868680">
                <a:tc>
                  <a:txBody>
                    <a:bodyPr/>
                    <a:lstStyle/>
                    <a:p>
                      <a:pPr>
                        <a:defRPr sz="850" b="0">
                          <a:solidFill>
                            <a:srgbClr val="053146"/>
                          </a:solidFill>
                          <a:latin typeface="Aptos"/>
                        </a:defRPr>
                      </a:pPr>
                      <a:r>
                        <a:t>Premium</a:t>
                      </a:r>
                    </a:p>
                  </a:txBody>
                  <a:tcPr marL="54864" marR="54864" marT="36576" marB="36576">
                    <a:solidFill>
                      <a:srgbClr val="FFFFFF"/>
                    </a:solidFill>
                  </a:tcPr>
                </a:tc>
                <a:tc>
                  <a:txBody>
                    <a:bodyPr/>
                    <a:lstStyle/>
                    <a:p>
                      <a:pPr>
                        <a:defRPr sz="850" b="0">
                          <a:solidFill>
                            <a:srgbClr val="053146"/>
                          </a:solidFill>
                          <a:latin typeface="Aptos"/>
                        </a:defRPr>
                      </a:pPr>
                      <a:r>
                        <a:t>2 500 MAD/mois</a:t>
                      </a:r>
                    </a:p>
                  </a:txBody>
                  <a:tcPr marL="54864" marR="54864" marT="36576" marB="36576">
                    <a:solidFill>
                      <a:srgbClr val="FFFFFF"/>
                    </a:solidFill>
                  </a:tcPr>
                </a:tc>
                <a:tc>
                  <a:txBody>
                    <a:bodyPr/>
                    <a:lstStyle/>
                    <a:p>
                      <a:pPr>
                        <a:defRPr sz="850" b="0">
                          <a:solidFill>
                            <a:srgbClr val="053146"/>
                          </a:solidFill>
                          <a:latin typeface="Aptos"/>
                        </a:defRPr>
                      </a:pPr>
                      <a:r>
                        <a:t>SOAR, ML, Power BI, support</a:t>
                      </a:r>
                    </a:p>
                  </a:txBody>
                  <a:tcPr marL="54864" marR="54864" marT="36576" marB="36576">
                    <a:solidFill>
                      <a:srgbClr val="FFFFFF"/>
                    </a:solidFill>
                  </a:tcPr>
                </a:tc>
                <a:tc>
                  <a:txBody>
                    <a:bodyPr/>
                    <a:lstStyle/>
                    <a:p>
                      <a:pPr>
                        <a:defRPr sz="850" b="0">
                          <a:solidFill>
                            <a:srgbClr val="053146"/>
                          </a:solidFill>
                          <a:latin typeface="Aptos"/>
                        </a:defRPr>
                      </a:pPr>
                      <a:r>
                        <a:t>PME / ETI</a:t>
                      </a:r>
                    </a:p>
                  </a:txBody>
                  <a:tcPr marL="54864" marR="54864" marT="36576" marB="36576">
                    <a:solidFill>
                      <a:srgbClr val="FFFFFF"/>
                    </a:solidFill>
                  </a:tcPr>
                </a:tc>
              </a:tr>
              <a:tr h="868680">
                <a:tc>
                  <a:txBody>
                    <a:bodyPr/>
                    <a:lstStyle/>
                    <a:p>
                      <a:pPr>
                        <a:defRPr sz="850" b="0">
                          <a:solidFill>
                            <a:srgbClr val="053146"/>
                          </a:solidFill>
                          <a:latin typeface="Aptos"/>
                        </a:defRPr>
                      </a:pPr>
                      <a:r>
                        <a:t>Enterprise</a:t>
                      </a:r>
                    </a:p>
                  </a:txBody>
                  <a:tcPr marL="54864" marR="54864" marT="36576" marB="36576">
                    <a:solidFill>
                      <a:srgbClr val="F2F7F9"/>
                    </a:solidFill>
                  </a:tcPr>
                </a:tc>
                <a:tc>
                  <a:txBody>
                    <a:bodyPr/>
                    <a:lstStyle/>
                    <a:p>
                      <a:pPr>
                        <a:defRPr sz="850" b="0">
                          <a:solidFill>
                            <a:srgbClr val="053146"/>
                          </a:solidFill>
                          <a:latin typeface="Aptos"/>
                        </a:defRPr>
                      </a:pPr>
                      <a:r>
                        <a:t>Sur devis</a:t>
                      </a:r>
                    </a:p>
                  </a:txBody>
                  <a:tcPr marL="54864" marR="54864" marT="36576" marB="36576">
                    <a:solidFill>
                      <a:srgbClr val="F2F7F9"/>
                    </a:solidFill>
                  </a:tcPr>
                </a:tc>
                <a:tc>
                  <a:txBody>
                    <a:bodyPr/>
                    <a:lstStyle/>
                    <a:p>
                      <a:pPr>
                        <a:defRPr sz="850" b="0">
                          <a:solidFill>
                            <a:srgbClr val="053146"/>
                          </a:solidFill>
                          <a:latin typeface="Aptos"/>
                        </a:defRPr>
                      </a:pPr>
                      <a:r>
                        <a:t>Infrastructure dédiée, formation</a:t>
                      </a:r>
                    </a:p>
                  </a:txBody>
                  <a:tcPr marL="54864" marR="54864" marT="36576" marB="36576">
                    <a:solidFill>
                      <a:srgbClr val="F2F7F9"/>
                    </a:solidFill>
                  </a:tcPr>
                </a:tc>
                <a:tc>
                  <a:txBody>
                    <a:bodyPr/>
                    <a:lstStyle/>
                    <a:p>
                      <a:pPr>
                        <a:defRPr sz="850" b="0">
                          <a:solidFill>
                            <a:srgbClr val="053146"/>
                          </a:solidFill>
                          <a:latin typeface="Aptos"/>
                        </a:defRPr>
                      </a:pPr>
                      <a:r>
                        <a:t>MSSP / grands comptes</a:t>
                      </a:r>
                    </a:p>
                  </a:txBody>
                  <a:tcPr marL="54864" marR="54864" marT="36576" marB="36576">
                    <a:solidFill>
                      <a:srgbClr val="F2F7F9"/>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Entrepreneuriat 7/7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23</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Faisabilité financière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Maîtriser les coûts pour rendre la cybersécurité accessible</a:t>
            </a:r>
          </a:p>
        </p:txBody>
      </p:sp>
      <p:sp>
        <p:nvSpPr>
          <p:cNvPr id="18" name="Rounded Rectangle 17"/>
          <p:cNvSpPr/>
          <p:nvPr/>
        </p:nvSpPr>
        <p:spPr>
          <a:xfrm>
            <a:off x="68580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1673352"/>
            <a:ext cx="2249424" cy="320040"/>
          </a:xfrm>
          <a:prstGeom prst="rect">
            <a:avLst/>
          </a:prstGeom>
          <a:noFill/>
        </p:spPr>
        <p:txBody>
          <a:bodyPr wrap="square" lIns="0" rIns="0" tIns="0" bIns="0">
            <a:spAutoFit/>
          </a:bodyPr>
          <a:lstStyle/>
          <a:p>
            <a:pPr algn="ctr"/>
            <a:r>
              <a:rPr sz="1800" b="1" i="0">
                <a:solidFill>
                  <a:srgbClr val="309C58"/>
                </a:solidFill>
                <a:latin typeface="Aptos"/>
              </a:rPr>
              <a:t>87,40 USD</a:t>
            </a:r>
          </a:p>
        </p:txBody>
      </p:sp>
      <p:sp>
        <p:nvSpPr>
          <p:cNvPr id="20" name="TextBox 19"/>
          <p:cNvSpPr txBox="1"/>
          <p:nvPr/>
        </p:nvSpPr>
        <p:spPr>
          <a:xfrm>
            <a:off x="795528" y="2084831"/>
            <a:ext cx="2249424" cy="320040"/>
          </a:xfrm>
          <a:prstGeom prst="rect">
            <a:avLst/>
          </a:prstGeom>
          <a:noFill/>
        </p:spPr>
        <p:txBody>
          <a:bodyPr wrap="square" lIns="0" rIns="0" tIns="0" bIns="0">
            <a:spAutoFit/>
          </a:bodyPr>
          <a:lstStyle/>
          <a:p>
            <a:pPr algn="ctr"/>
            <a:r>
              <a:rPr sz="850" b="0" i="0">
                <a:solidFill>
                  <a:srgbClr val="053146"/>
                </a:solidFill>
                <a:latin typeface="Aptos"/>
              </a:rPr>
              <a:t>Coût final estimé du prototype</a:t>
            </a:r>
          </a:p>
        </p:txBody>
      </p:sp>
      <p:sp>
        <p:nvSpPr>
          <p:cNvPr id="21" name="Rounded Rectangle 20"/>
          <p:cNvSpPr/>
          <p:nvPr/>
        </p:nvSpPr>
        <p:spPr>
          <a:xfrm>
            <a:off x="347472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1673352"/>
            <a:ext cx="2249424" cy="320040"/>
          </a:xfrm>
          <a:prstGeom prst="rect">
            <a:avLst/>
          </a:prstGeom>
          <a:noFill/>
        </p:spPr>
        <p:txBody>
          <a:bodyPr wrap="square" lIns="0" rIns="0" tIns="0" bIns="0">
            <a:spAutoFit/>
          </a:bodyPr>
          <a:lstStyle/>
          <a:p>
            <a:pPr algn="ctr"/>
            <a:r>
              <a:rPr sz="1800" b="1" i="0">
                <a:solidFill>
                  <a:srgbClr val="1870A0"/>
                </a:solidFill>
                <a:latin typeface="Aptos"/>
              </a:rPr>
              <a:t>11 clients</a:t>
            </a:r>
          </a:p>
        </p:txBody>
      </p:sp>
      <p:sp>
        <p:nvSpPr>
          <p:cNvPr id="23" name="TextBox 22"/>
          <p:cNvSpPr txBox="1"/>
          <p:nvPr/>
        </p:nvSpPr>
        <p:spPr>
          <a:xfrm>
            <a:off x="3584448" y="2084831"/>
            <a:ext cx="2249424" cy="320040"/>
          </a:xfrm>
          <a:prstGeom prst="rect">
            <a:avLst/>
          </a:prstGeom>
          <a:noFill/>
        </p:spPr>
        <p:txBody>
          <a:bodyPr wrap="square" lIns="0" rIns="0" tIns="0" bIns="0">
            <a:spAutoFit/>
          </a:bodyPr>
          <a:lstStyle/>
          <a:p>
            <a:pPr algn="ctr"/>
            <a:r>
              <a:rPr sz="850" b="0" i="0">
                <a:solidFill>
                  <a:srgbClr val="053146"/>
                </a:solidFill>
                <a:latin typeface="Aptos"/>
              </a:rPr>
              <a:t>Seuil de rentabilité estimé</a:t>
            </a:r>
          </a:p>
        </p:txBody>
      </p:sp>
      <p:sp>
        <p:nvSpPr>
          <p:cNvPr id="24" name="Rounded Rectangle 23"/>
          <p:cNvSpPr/>
          <p:nvPr/>
        </p:nvSpPr>
        <p:spPr>
          <a:xfrm>
            <a:off x="626364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1673352"/>
            <a:ext cx="2249424" cy="320040"/>
          </a:xfrm>
          <a:prstGeom prst="rect">
            <a:avLst/>
          </a:prstGeom>
          <a:noFill/>
        </p:spPr>
        <p:txBody>
          <a:bodyPr wrap="square" lIns="0" rIns="0" tIns="0" bIns="0">
            <a:spAutoFit/>
          </a:bodyPr>
          <a:lstStyle/>
          <a:p>
            <a:pPr algn="ctr"/>
            <a:r>
              <a:rPr sz="1800" b="1" i="0">
                <a:solidFill>
                  <a:srgbClr val="1AA09E"/>
                </a:solidFill>
                <a:latin typeface="Aptos"/>
              </a:rPr>
              <a:t>18 000 MAD</a:t>
            </a:r>
          </a:p>
        </p:txBody>
      </p:sp>
      <p:sp>
        <p:nvSpPr>
          <p:cNvPr id="26" name="TextBox 25"/>
          <p:cNvSpPr txBox="1"/>
          <p:nvPr/>
        </p:nvSpPr>
        <p:spPr>
          <a:xfrm>
            <a:off x="6373368" y="2084831"/>
            <a:ext cx="2249424" cy="320040"/>
          </a:xfrm>
          <a:prstGeom prst="rect">
            <a:avLst/>
          </a:prstGeom>
          <a:noFill/>
        </p:spPr>
        <p:txBody>
          <a:bodyPr wrap="square" lIns="0" rIns="0" tIns="0" bIns="0">
            <a:spAutoFit/>
          </a:bodyPr>
          <a:lstStyle/>
          <a:p>
            <a:pPr algn="ctr"/>
            <a:r>
              <a:rPr sz="850" b="0" i="0">
                <a:solidFill>
                  <a:srgbClr val="053146"/>
                </a:solidFill>
                <a:latin typeface="Aptos"/>
              </a:rPr>
              <a:t>Revenu annuel moyen par client</a:t>
            </a:r>
          </a:p>
        </p:txBody>
      </p:sp>
      <p:sp>
        <p:nvSpPr>
          <p:cNvPr id="27" name="Rounded Rectangle 26"/>
          <p:cNvSpPr/>
          <p:nvPr/>
        </p:nvSpPr>
        <p:spPr>
          <a:xfrm>
            <a:off x="905256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2288" y="1673352"/>
            <a:ext cx="2249424" cy="320040"/>
          </a:xfrm>
          <a:prstGeom prst="rect">
            <a:avLst/>
          </a:prstGeom>
          <a:noFill/>
        </p:spPr>
        <p:txBody>
          <a:bodyPr wrap="square" lIns="0" rIns="0" tIns="0" bIns="0">
            <a:spAutoFit/>
          </a:bodyPr>
          <a:lstStyle/>
          <a:p>
            <a:pPr algn="ctr"/>
            <a:r>
              <a:rPr sz="1800" b="1" i="0">
                <a:solidFill>
                  <a:srgbClr val="E08E2C"/>
                </a:solidFill>
                <a:latin typeface="Aptos"/>
              </a:rPr>
              <a:t>42 %</a:t>
            </a:r>
          </a:p>
        </p:txBody>
      </p:sp>
      <p:sp>
        <p:nvSpPr>
          <p:cNvPr id="29" name="TextBox 28"/>
          <p:cNvSpPr txBox="1"/>
          <p:nvPr/>
        </p:nvSpPr>
        <p:spPr>
          <a:xfrm>
            <a:off x="9162288" y="2084831"/>
            <a:ext cx="2249424" cy="320040"/>
          </a:xfrm>
          <a:prstGeom prst="rect">
            <a:avLst/>
          </a:prstGeom>
          <a:noFill/>
        </p:spPr>
        <p:txBody>
          <a:bodyPr wrap="square" lIns="0" rIns="0" tIns="0" bIns="0">
            <a:spAutoFit/>
          </a:bodyPr>
          <a:lstStyle/>
          <a:p>
            <a:pPr algn="ctr"/>
            <a:r>
              <a:rPr sz="850" b="0" i="0">
                <a:solidFill>
                  <a:srgbClr val="053146"/>
                </a:solidFill>
                <a:latin typeface="Aptos"/>
              </a:rPr>
              <a:t>Marge nette cible S2</a:t>
            </a:r>
          </a:p>
        </p:txBody>
      </p:sp>
      <p:sp>
        <p:nvSpPr>
          <p:cNvPr id="30" name="Rounded Rectangle 29"/>
          <p:cNvSpPr/>
          <p:nvPr/>
        </p:nvSpPr>
        <p:spPr>
          <a:xfrm>
            <a:off x="1005840" y="3063240"/>
            <a:ext cx="10058400" cy="21488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5840" y="3063240"/>
            <a:ext cx="73152" cy="21488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07008" y="3227832"/>
            <a:ext cx="9729216" cy="274320"/>
          </a:xfrm>
          <a:prstGeom prst="rect">
            <a:avLst/>
          </a:prstGeom>
          <a:noFill/>
        </p:spPr>
        <p:txBody>
          <a:bodyPr wrap="square" lIns="0" rIns="0" tIns="0" bIns="0">
            <a:spAutoFit/>
          </a:bodyPr>
          <a:lstStyle/>
          <a:p>
            <a:pPr algn="l"/>
            <a:r>
              <a:rPr sz="1300" b="1" i="0">
                <a:solidFill>
                  <a:srgbClr val="074662"/>
                </a:solidFill>
                <a:latin typeface="Aptos"/>
              </a:rPr>
              <a:t>Interprétation</a:t>
            </a:r>
          </a:p>
        </p:txBody>
      </p:sp>
      <p:sp>
        <p:nvSpPr>
          <p:cNvPr id="33" name="TextBox 32"/>
          <p:cNvSpPr txBox="1"/>
          <p:nvPr/>
        </p:nvSpPr>
        <p:spPr>
          <a:xfrm>
            <a:off x="1234440" y="3657600"/>
            <a:ext cx="9674352" cy="1417320"/>
          </a:xfrm>
          <a:prstGeom prst="rect">
            <a:avLst/>
          </a:prstGeom>
          <a:noFill/>
        </p:spPr>
        <p:txBody>
          <a:bodyPr wrap="square">
            <a:spAutoFit/>
          </a:bodyPr>
          <a:lstStyle/>
          <a:p>
            <a:pPr>
              <a:spcAft>
                <a:spcPts val="500"/>
              </a:spcAft>
              <a:defRPr sz="1030">
                <a:solidFill>
                  <a:srgbClr val="053146"/>
                </a:solidFill>
                <a:latin typeface="Aptos"/>
              </a:defRPr>
            </a:pPr>
            <a:r>
              <a:t>Le coût principal vient de l'infrastructure Azure et de l'ingestion Sentinel.</a:t>
            </a:r>
          </a:p>
          <a:p>
            <a:pPr>
              <a:spcAft>
                <a:spcPts val="500"/>
              </a:spcAft>
              <a:defRPr sz="1030">
                <a:solidFill>
                  <a:srgbClr val="053146"/>
                </a:solidFill>
                <a:latin typeface="Aptos"/>
              </a:defRPr>
            </a:pPr>
            <a:r>
              <a:t>Le modèle SaaS permet des revenus récurrents.</a:t>
            </a:r>
          </a:p>
          <a:p>
            <a:pPr>
              <a:spcAft>
                <a:spcPts val="500"/>
              </a:spcAft>
              <a:defRPr sz="1030">
                <a:solidFill>
                  <a:srgbClr val="053146"/>
                </a:solidFill>
                <a:latin typeface="Aptos"/>
              </a:defRPr>
            </a:pPr>
            <a:r>
              <a:t>Le freemium facilite l'adoption et la visibilité du produit.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24</a:t>
            </a:r>
          </a:p>
        </p:txBody>
      </p:sp>
      <p:sp>
        <p:nvSpPr>
          <p:cNvPr id="16" name="TextBox 15"/>
          <p:cNvSpPr txBox="1"/>
          <p:nvPr/>
        </p:nvSpPr>
        <p:spPr>
          <a:xfrm>
            <a:off x="914400" y="2331720"/>
            <a:ext cx="10378440" cy="640080"/>
          </a:xfrm>
          <a:prstGeom prst="rect">
            <a:avLst/>
          </a:prstGeom>
          <a:noFill/>
        </p:spPr>
        <p:txBody>
          <a:bodyPr wrap="square" lIns="0" rIns="0" tIns="0" bIns="0">
            <a:spAutoFit/>
          </a:bodyPr>
          <a:lstStyle/>
          <a:p>
            <a:pPr algn="ctr"/>
            <a:r>
              <a:rPr sz="3400" b="1" i="1">
                <a:solidFill>
                  <a:srgbClr val="074662"/>
                </a:solidFill>
                <a:latin typeface="Georgia"/>
              </a:rPr>
              <a:t>Partie Gestion de projet</a:t>
            </a:r>
          </a:p>
        </p:txBody>
      </p:sp>
      <p:sp>
        <p:nvSpPr>
          <p:cNvPr id="17" name="TextBox 16"/>
          <p:cNvSpPr txBox="1"/>
          <p:nvPr/>
        </p:nvSpPr>
        <p:spPr>
          <a:xfrm>
            <a:off x="1371600" y="3063240"/>
            <a:ext cx="9464040" cy="411480"/>
          </a:xfrm>
          <a:prstGeom prst="rect">
            <a:avLst/>
          </a:prstGeom>
          <a:noFill/>
        </p:spPr>
        <p:txBody>
          <a:bodyPr wrap="square" lIns="0" rIns="0" tIns="0" bIns="0">
            <a:spAutoFit/>
          </a:bodyPr>
          <a:lstStyle/>
          <a:p>
            <a:pPr algn="ctr"/>
            <a:r>
              <a:rPr sz="1800" b="0" i="0">
                <a:solidFill>
                  <a:srgbClr val="7C96A0"/>
                </a:solidFill>
                <a:latin typeface="Aptos"/>
              </a:rPr>
              <a:t>Planifier, piloter et valider AITDR</a:t>
            </a:r>
          </a:p>
        </p:txBody>
      </p:sp>
      <p:sp>
        <p:nvSpPr>
          <p:cNvPr id="18" name="Rectangle 17"/>
          <p:cNvSpPr/>
          <p:nvPr/>
        </p:nvSpPr>
        <p:spPr>
          <a:xfrm>
            <a:off x="4251960" y="3794760"/>
            <a:ext cx="3657600" cy="54864"/>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1/7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25</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Méthodologie retenue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Approche Agile / Scrum</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Pourquoi Agile ?</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Projet technique évolutif</a:t>
            </a:r>
          </a:p>
          <a:p>
            <a:pPr>
              <a:spcAft>
                <a:spcPts val="500"/>
              </a:spcAft>
              <a:defRPr sz="1030">
                <a:solidFill>
                  <a:srgbClr val="053146"/>
                </a:solidFill>
                <a:latin typeface="Aptos"/>
              </a:defRPr>
            </a:pPr>
            <a:r>
              <a:t>Tests progressifs</a:t>
            </a:r>
          </a:p>
          <a:p>
            <a:pPr>
              <a:spcAft>
                <a:spcPts val="500"/>
              </a:spcAft>
              <a:defRPr sz="1030">
                <a:solidFill>
                  <a:srgbClr val="053146"/>
                </a:solidFill>
                <a:latin typeface="Aptos"/>
              </a:defRPr>
            </a:pPr>
            <a:r>
              <a:t>Adaptation rapide</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Organisation</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Backlog fonctionnel</a:t>
            </a:r>
          </a:p>
          <a:p>
            <a:pPr>
              <a:spcAft>
                <a:spcPts val="500"/>
              </a:spcAft>
              <a:defRPr sz="1030">
                <a:solidFill>
                  <a:srgbClr val="053146"/>
                </a:solidFill>
                <a:latin typeface="Aptos"/>
              </a:defRPr>
            </a:pPr>
            <a:r>
              <a:t>Sprints orientés livrables</a:t>
            </a:r>
          </a:p>
          <a:p>
            <a:pPr>
              <a:spcAft>
                <a:spcPts val="500"/>
              </a:spcAft>
              <a:defRPr sz="1030">
                <a:solidFill>
                  <a:srgbClr val="053146"/>
                </a:solidFill>
                <a:latin typeface="Aptos"/>
              </a:defRPr>
            </a:pPr>
            <a:r>
              <a:t>Validation incrémentale</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Bénéfice</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Risques réduits</a:t>
            </a:r>
          </a:p>
          <a:p>
            <a:pPr>
              <a:spcAft>
                <a:spcPts val="500"/>
              </a:spcAft>
              <a:defRPr sz="1030">
                <a:solidFill>
                  <a:srgbClr val="053146"/>
                </a:solidFill>
                <a:latin typeface="Aptos"/>
              </a:defRPr>
            </a:pPr>
            <a:r>
              <a:t>Meilleure visibilité</a:t>
            </a:r>
          </a:p>
          <a:p>
            <a:pPr>
              <a:spcAft>
                <a:spcPts val="500"/>
              </a:spcAft>
              <a:defRPr sz="1030">
                <a:solidFill>
                  <a:srgbClr val="053146"/>
                </a:solidFill>
                <a:latin typeface="Aptos"/>
              </a:defRPr>
            </a:pPr>
            <a:r>
              <a:t>Amélioration continue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2/7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26</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Découpage du travail</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Work Breakdown Structure simplifiée</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Infrastructure</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VNet, NSG, VM</a:t>
            </a:r>
          </a:p>
          <a:p>
            <a:pPr>
              <a:spcAft>
                <a:spcPts val="500"/>
              </a:spcAft>
              <a:defRPr sz="1030">
                <a:solidFill>
                  <a:srgbClr val="053146"/>
                </a:solidFill>
                <a:latin typeface="Aptos"/>
              </a:defRPr>
            </a:pPr>
            <a:r>
              <a:t>SQL, Storage, Key Vault</a:t>
            </a:r>
          </a:p>
          <a:p>
            <a:pPr>
              <a:spcAft>
                <a:spcPts val="500"/>
              </a:spcAft>
              <a:defRPr sz="1030">
                <a:solidFill>
                  <a:srgbClr val="053146"/>
                </a:solidFill>
                <a:latin typeface="Aptos"/>
              </a:defRPr>
            </a:pPr>
            <a:r>
              <a:t>Modules Terraform</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Sécurité</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Honeypot DVWA</a:t>
            </a:r>
          </a:p>
          <a:p>
            <a:pPr>
              <a:spcAft>
                <a:spcPts val="500"/>
              </a:spcAft>
              <a:defRPr sz="1030">
                <a:solidFill>
                  <a:srgbClr val="053146"/>
                </a:solidFill>
                <a:latin typeface="Aptos"/>
              </a:defRPr>
            </a:pPr>
            <a:r>
              <a:t>Suricata</a:t>
            </a:r>
          </a:p>
          <a:p>
            <a:pPr>
              <a:spcAft>
                <a:spcPts val="500"/>
              </a:spcAft>
              <a:defRPr sz="1030">
                <a:solidFill>
                  <a:srgbClr val="053146"/>
                </a:solidFill>
                <a:latin typeface="Aptos"/>
              </a:defRPr>
            </a:pPr>
            <a:r>
              <a:t>Sentinel et KQL</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Automatisation</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Logic Apps SOAR</a:t>
            </a:r>
          </a:p>
          <a:p>
            <a:pPr>
              <a:spcAft>
                <a:spcPts val="500"/>
              </a:spcAft>
              <a:defRPr sz="1030">
                <a:solidFill>
                  <a:srgbClr val="053146"/>
                </a:solidFill>
                <a:latin typeface="Aptos"/>
              </a:defRPr>
            </a:pPr>
            <a:r>
              <a:t>Scripts ETL Python</a:t>
            </a:r>
          </a:p>
          <a:p>
            <a:pPr>
              <a:spcAft>
                <a:spcPts val="500"/>
              </a:spcAft>
              <a:defRPr sz="1030">
                <a:solidFill>
                  <a:srgbClr val="053146"/>
                </a:solidFill>
                <a:latin typeface="Aptos"/>
              </a:defRPr>
            </a:pPr>
            <a:r>
              <a:t>ML et Power BI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3/7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27</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Planning par phases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Progression logique du projet</a:t>
            </a:r>
          </a:p>
        </p:txBody>
      </p:sp>
      <p:sp>
        <p:nvSpPr>
          <p:cNvPr id="18" name="Rectangle 17"/>
          <p:cNvSpPr/>
          <p:nvPr/>
        </p:nvSpPr>
        <p:spPr>
          <a:xfrm>
            <a:off x="1005840" y="3227832"/>
            <a:ext cx="9966960" cy="36576"/>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2926079"/>
            <a:ext cx="457200" cy="457200"/>
          </a:xfrm>
          <a:prstGeom prst="ellipse">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6424" y="3044951"/>
            <a:ext cx="146304" cy="118872"/>
          </a:xfrm>
          <a:prstGeom prst="rect">
            <a:avLst/>
          </a:prstGeom>
          <a:noFill/>
        </p:spPr>
        <p:txBody>
          <a:bodyPr wrap="square" lIns="0" rIns="0" tIns="0" bIns="0">
            <a:spAutoFit/>
          </a:bodyPr>
          <a:lstStyle/>
          <a:p>
            <a:pPr algn="ctr"/>
            <a:r>
              <a:rPr sz="900" b="1" i="0">
                <a:solidFill>
                  <a:srgbClr val="FFFFFF"/>
                </a:solidFill>
                <a:latin typeface="Aptos"/>
              </a:rPr>
              <a:t>1</a:t>
            </a:r>
          </a:p>
        </p:txBody>
      </p:sp>
      <p:sp>
        <p:nvSpPr>
          <p:cNvPr id="21" name="TextBox 20"/>
          <p:cNvSpPr txBox="1"/>
          <p:nvPr/>
        </p:nvSpPr>
        <p:spPr>
          <a:xfrm>
            <a:off x="685800" y="3584448"/>
            <a:ext cx="1097280" cy="228600"/>
          </a:xfrm>
          <a:prstGeom prst="rect">
            <a:avLst/>
          </a:prstGeom>
          <a:noFill/>
        </p:spPr>
        <p:txBody>
          <a:bodyPr wrap="square" lIns="0" rIns="0" tIns="0" bIns="0">
            <a:spAutoFit/>
          </a:bodyPr>
          <a:lstStyle/>
          <a:p>
            <a:pPr algn="ctr"/>
            <a:r>
              <a:rPr sz="1200" b="1" i="0">
                <a:solidFill>
                  <a:srgbClr val="074662"/>
                </a:solidFill>
                <a:latin typeface="Aptos"/>
              </a:rPr>
              <a:t>Cadrage</a:t>
            </a:r>
          </a:p>
        </p:txBody>
      </p:sp>
      <p:sp>
        <p:nvSpPr>
          <p:cNvPr id="22" name="TextBox 21"/>
          <p:cNvSpPr txBox="1"/>
          <p:nvPr/>
        </p:nvSpPr>
        <p:spPr>
          <a:xfrm>
            <a:off x="457200" y="3950208"/>
            <a:ext cx="1600200" cy="685800"/>
          </a:xfrm>
          <a:prstGeom prst="rect">
            <a:avLst/>
          </a:prstGeom>
          <a:noFill/>
        </p:spPr>
        <p:txBody>
          <a:bodyPr wrap="square" lIns="0" rIns="0" tIns="0" bIns="0">
            <a:spAutoFit/>
          </a:bodyPr>
          <a:lstStyle/>
          <a:p>
            <a:pPr algn="ctr"/>
            <a:r>
              <a:rPr sz="850" b="0" i="0">
                <a:solidFill>
                  <a:srgbClr val="053146"/>
                </a:solidFill>
                <a:latin typeface="Aptos"/>
              </a:rPr>
              <a:t>Besoin, marché,
choix techniques</a:t>
            </a:r>
          </a:p>
        </p:txBody>
      </p:sp>
      <p:sp>
        <p:nvSpPr>
          <p:cNvPr id="23" name="Oval 22"/>
          <p:cNvSpPr/>
          <p:nvPr/>
        </p:nvSpPr>
        <p:spPr>
          <a:xfrm>
            <a:off x="3108960" y="2926079"/>
            <a:ext cx="457200" cy="457200"/>
          </a:xfrm>
          <a:prstGeom prst="ellipse">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55264" y="3044951"/>
            <a:ext cx="146304" cy="118872"/>
          </a:xfrm>
          <a:prstGeom prst="rect">
            <a:avLst/>
          </a:prstGeom>
          <a:noFill/>
        </p:spPr>
        <p:txBody>
          <a:bodyPr wrap="square" lIns="0" rIns="0" tIns="0" bIns="0">
            <a:spAutoFit/>
          </a:bodyPr>
          <a:lstStyle/>
          <a:p>
            <a:pPr algn="ctr"/>
            <a:r>
              <a:rPr sz="900" b="1" i="0">
                <a:solidFill>
                  <a:srgbClr val="FFFFFF"/>
                </a:solidFill>
                <a:latin typeface="Aptos"/>
              </a:rPr>
              <a:t>2</a:t>
            </a:r>
          </a:p>
        </p:txBody>
      </p:sp>
      <p:sp>
        <p:nvSpPr>
          <p:cNvPr id="25" name="TextBox 24"/>
          <p:cNvSpPr txBox="1"/>
          <p:nvPr/>
        </p:nvSpPr>
        <p:spPr>
          <a:xfrm>
            <a:off x="2834640" y="3584448"/>
            <a:ext cx="1097280" cy="228600"/>
          </a:xfrm>
          <a:prstGeom prst="rect">
            <a:avLst/>
          </a:prstGeom>
          <a:noFill/>
        </p:spPr>
        <p:txBody>
          <a:bodyPr wrap="square" lIns="0" rIns="0" tIns="0" bIns="0">
            <a:spAutoFit/>
          </a:bodyPr>
          <a:lstStyle/>
          <a:p>
            <a:pPr algn="ctr"/>
            <a:r>
              <a:rPr sz="1200" b="1" i="0">
                <a:solidFill>
                  <a:srgbClr val="074662"/>
                </a:solidFill>
                <a:latin typeface="Aptos"/>
              </a:rPr>
              <a:t>Infrastructure</a:t>
            </a:r>
          </a:p>
        </p:txBody>
      </p:sp>
      <p:sp>
        <p:nvSpPr>
          <p:cNvPr id="26" name="TextBox 25"/>
          <p:cNvSpPr txBox="1"/>
          <p:nvPr/>
        </p:nvSpPr>
        <p:spPr>
          <a:xfrm>
            <a:off x="2606040" y="3950208"/>
            <a:ext cx="1600200" cy="685800"/>
          </a:xfrm>
          <a:prstGeom prst="rect">
            <a:avLst/>
          </a:prstGeom>
          <a:noFill/>
        </p:spPr>
        <p:txBody>
          <a:bodyPr wrap="square" lIns="0" rIns="0" tIns="0" bIns="0">
            <a:spAutoFit/>
          </a:bodyPr>
          <a:lstStyle/>
          <a:p>
            <a:pPr algn="ctr"/>
            <a:r>
              <a:rPr sz="850" b="0" i="0">
                <a:solidFill>
                  <a:srgbClr val="053146"/>
                </a:solidFill>
                <a:latin typeface="Aptos"/>
              </a:rPr>
              <a:t>Terraform,
réseau, sécurité</a:t>
            </a:r>
          </a:p>
        </p:txBody>
      </p:sp>
      <p:sp>
        <p:nvSpPr>
          <p:cNvPr id="27" name="Oval 26"/>
          <p:cNvSpPr/>
          <p:nvPr/>
        </p:nvSpPr>
        <p:spPr>
          <a:xfrm>
            <a:off x="5257800" y="2926079"/>
            <a:ext cx="457200" cy="457200"/>
          </a:xfrm>
          <a:prstGeom prst="ellipse">
            <a:avLst/>
          </a:prstGeom>
          <a:solidFill>
            <a:srgbClr val="E08E2C"/>
          </a:solidFill>
          <a:ln>
            <a:solidFill>
              <a:srgbClr val="E08E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04104" y="3044951"/>
            <a:ext cx="146304" cy="118872"/>
          </a:xfrm>
          <a:prstGeom prst="rect">
            <a:avLst/>
          </a:prstGeom>
          <a:noFill/>
        </p:spPr>
        <p:txBody>
          <a:bodyPr wrap="square" lIns="0" rIns="0" tIns="0" bIns="0">
            <a:spAutoFit/>
          </a:bodyPr>
          <a:lstStyle/>
          <a:p>
            <a:pPr algn="ctr"/>
            <a:r>
              <a:rPr sz="900" b="1" i="0">
                <a:solidFill>
                  <a:srgbClr val="FFFFFF"/>
                </a:solidFill>
                <a:latin typeface="Aptos"/>
              </a:rPr>
              <a:t>3</a:t>
            </a:r>
          </a:p>
        </p:txBody>
      </p:sp>
      <p:sp>
        <p:nvSpPr>
          <p:cNvPr id="29" name="TextBox 28"/>
          <p:cNvSpPr txBox="1"/>
          <p:nvPr/>
        </p:nvSpPr>
        <p:spPr>
          <a:xfrm>
            <a:off x="4983480" y="3584448"/>
            <a:ext cx="1097280" cy="228600"/>
          </a:xfrm>
          <a:prstGeom prst="rect">
            <a:avLst/>
          </a:prstGeom>
          <a:noFill/>
        </p:spPr>
        <p:txBody>
          <a:bodyPr wrap="square" lIns="0" rIns="0" tIns="0" bIns="0">
            <a:spAutoFit/>
          </a:bodyPr>
          <a:lstStyle/>
          <a:p>
            <a:pPr algn="ctr"/>
            <a:r>
              <a:rPr sz="1200" b="1" i="0">
                <a:solidFill>
                  <a:srgbClr val="074662"/>
                </a:solidFill>
                <a:latin typeface="Aptos"/>
              </a:rPr>
              <a:t>Collecte</a:t>
            </a:r>
          </a:p>
        </p:txBody>
      </p:sp>
      <p:sp>
        <p:nvSpPr>
          <p:cNvPr id="30" name="TextBox 29"/>
          <p:cNvSpPr txBox="1"/>
          <p:nvPr/>
        </p:nvSpPr>
        <p:spPr>
          <a:xfrm>
            <a:off x="4754880" y="3950208"/>
            <a:ext cx="1600200" cy="685800"/>
          </a:xfrm>
          <a:prstGeom prst="rect">
            <a:avLst/>
          </a:prstGeom>
          <a:noFill/>
        </p:spPr>
        <p:txBody>
          <a:bodyPr wrap="square" lIns="0" rIns="0" tIns="0" bIns="0">
            <a:spAutoFit/>
          </a:bodyPr>
          <a:lstStyle/>
          <a:p>
            <a:pPr algn="ctr"/>
            <a:r>
              <a:rPr sz="850" b="0" i="0">
                <a:solidFill>
                  <a:srgbClr val="053146"/>
                </a:solidFill>
                <a:latin typeface="Aptos"/>
              </a:rPr>
              <a:t>DVWA,
Suricata, ETL</a:t>
            </a:r>
          </a:p>
        </p:txBody>
      </p:sp>
      <p:sp>
        <p:nvSpPr>
          <p:cNvPr id="31" name="Oval 30"/>
          <p:cNvSpPr/>
          <p:nvPr/>
        </p:nvSpPr>
        <p:spPr>
          <a:xfrm>
            <a:off x="7406640" y="2926079"/>
            <a:ext cx="457200" cy="457200"/>
          </a:xfrm>
          <a:prstGeom prst="ellipse">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52944" y="3044951"/>
            <a:ext cx="146304" cy="118872"/>
          </a:xfrm>
          <a:prstGeom prst="rect">
            <a:avLst/>
          </a:prstGeom>
          <a:noFill/>
        </p:spPr>
        <p:txBody>
          <a:bodyPr wrap="square" lIns="0" rIns="0" tIns="0" bIns="0">
            <a:spAutoFit/>
          </a:bodyPr>
          <a:lstStyle/>
          <a:p>
            <a:pPr algn="ctr"/>
            <a:r>
              <a:rPr sz="900" b="1" i="0">
                <a:solidFill>
                  <a:srgbClr val="FFFFFF"/>
                </a:solidFill>
                <a:latin typeface="Aptos"/>
              </a:rPr>
              <a:t>4</a:t>
            </a:r>
          </a:p>
        </p:txBody>
      </p:sp>
      <p:sp>
        <p:nvSpPr>
          <p:cNvPr id="33" name="TextBox 32"/>
          <p:cNvSpPr txBox="1"/>
          <p:nvPr/>
        </p:nvSpPr>
        <p:spPr>
          <a:xfrm>
            <a:off x="7132320" y="3584448"/>
            <a:ext cx="1097280" cy="228600"/>
          </a:xfrm>
          <a:prstGeom prst="rect">
            <a:avLst/>
          </a:prstGeom>
          <a:noFill/>
        </p:spPr>
        <p:txBody>
          <a:bodyPr wrap="square" lIns="0" rIns="0" tIns="0" bIns="0">
            <a:spAutoFit/>
          </a:bodyPr>
          <a:lstStyle/>
          <a:p>
            <a:pPr algn="ctr"/>
            <a:r>
              <a:rPr sz="1200" b="1" i="0">
                <a:solidFill>
                  <a:srgbClr val="074662"/>
                </a:solidFill>
                <a:latin typeface="Aptos"/>
              </a:rPr>
              <a:t>SIEM/SOAR</a:t>
            </a:r>
          </a:p>
        </p:txBody>
      </p:sp>
      <p:sp>
        <p:nvSpPr>
          <p:cNvPr id="34" name="TextBox 33"/>
          <p:cNvSpPr txBox="1"/>
          <p:nvPr/>
        </p:nvSpPr>
        <p:spPr>
          <a:xfrm>
            <a:off x="6903720" y="3950208"/>
            <a:ext cx="1600200" cy="685800"/>
          </a:xfrm>
          <a:prstGeom prst="rect">
            <a:avLst/>
          </a:prstGeom>
          <a:noFill/>
        </p:spPr>
        <p:txBody>
          <a:bodyPr wrap="square" lIns="0" rIns="0" tIns="0" bIns="0">
            <a:spAutoFit/>
          </a:bodyPr>
          <a:lstStyle/>
          <a:p>
            <a:pPr algn="ctr"/>
            <a:r>
              <a:rPr sz="850" b="0" i="0">
                <a:solidFill>
                  <a:srgbClr val="053146"/>
                </a:solidFill>
                <a:latin typeface="Aptos"/>
              </a:rPr>
              <a:t>Sentinel,
KQL, Logic Apps</a:t>
            </a:r>
          </a:p>
        </p:txBody>
      </p:sp>
      <p:sp>
        <p:nvSpPr>
          <p:cNvPr id="35" name="Oval 34"/>
          <p:cNvSpPr/>
          <p:nvPr/>
        </p:nvSpPr>
        <p:spPr>
          <a:xfrm>
            <a:off x="9555480" y="2926079"/>
            <a:ext cx="457200" cy="457200"/>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01784" y="3044951"/>
            <a:ext cx="146304" cy="118872"/>
          </a:xfrm>
          <a:prstGeom prst="rect">
            <a:avLst/>
          </a:prstGeom>
          <a:noFill/>
        </p:spPr>
        <p:txBody>
          <a:bodyPr wrap="square" lIns="0" rIns="0" tIns="0" bIns="0">
            <a:spAutoFit/>
          </a:bodyPr>
          <a:lstStyle/>
          <a:p>
            <a:pPr algn="ctr"/>
            <a:r>
              <a:rPr sz="900" b="1" i="0">
                <a:solidFill>
                  <a:srgbClr val="FFFFFF"/>
                </a:solidFill>
                <a:latin typeface="Aptos"/>
              </a:rPr>
              <a:t>5</a:t>
            </a:r>
          </a:p>
        </p:txBody>
      </p:sp>
      <p:sp>
        <p:nvSpPr>
          <p:cNvPr id="37" name="TextBox 36"/>
          <p:cNvSpPr txBox="1"/>
          <p:nvPr/>
        </p:nvSpPr>
        <p:spPr>
          <a:xfrm>
            <a:off x="9281160" y="3584448"/>
            <a:ext cx="1097280" cy="228600"/>
          </a:xfrm>
          <a:prstGeom prst="rect">
            <a:avLst/>
          </a:prstGeom>
          <a:noFill/>
        </p:spPr>
        <p:txBody>
          <a:bodyPr wrap="square" lIns="0" rIns="0" tIns="0" bIns="0">
            <a:spAutoFit/>
          </a:bodyPr>
          <a:lstStyle/>
          <a:p>
            <a:pPr algn="ctr"/>
            <a:r>
              <a:rPr sz="1200" b="1" i="0">
                <a:solidFill>
                  <a:srgbClr val="074662"/>
                </a:solidFill>
                <a:latin typeface="Aptos"/>
              </a:rPr>
              <a:t>Validation</a:t>
            </a:r>
          </a:p>
        </p:txBody>
      </p:sp>
      <p:sp>
        <p:nvSpPr>
          <p:cNvPr id="38" name="TextBox 37"/>
          <p:cNvSpPr txBox="1"/>
          <p:nvPr/>
        </p:nvSpPr>
        <p:spPr>
          <a:xfrm>
            <a:off x="9052560" y="3950208"/>
            <a:ext cx="1600200" cy="685800"/>
          </a:xfrm>
          <a:prstGeom prst="rect">
            <a:avLst/>
          </a:prstGeom>
          <a:noFill/>
        </p:spPr>
        <p:txBody>
          <a:bodyPr wrap="square" lIns="0" rIns="0" tIns="0" bIns="0">
            <a:spAutoFit/>
          </a:bodyPr>
          <a:lstStyle/>
          <a:p>
            <a:pPr algn="ctr"/>
            <a:r>
              <a:rPr sz="850" b="0" i="0">
                <a:solidFill>
                  <a:srgbClr val="053146"/>
                </a:solidFill>
                <a:latin typeface="Aptos"/>
              </a:rPr>
              <a:t>ML, Power BI,
coûts, rapport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4/7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28</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Équipe et responsabilités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Rôles nécessaires pour réaliser AITDR</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5417820"/>
                <a:gridCol w="5417820"/>
              </a:tblGrid>
              <a:tr h="723900">
                <a:tc>
                  <a:txBody>
                    <a:bodyPr/>
                    <a:lstStyle/>
                    <a:p>
                      <a:pPr>
                        <a:defRPr sz="850" b="1">
                          <a:solidFill>
                            <a:srgbClr val="FFFFFF"/>
                          </a:solidFill>
                          <a:latin typeface="Aptos"/>
                        </a:defRPr>
                      </a:pPr>
                      <a:r>
                        <a:t>Rôle</a:t>
                      </a:r>
                    </a:p>
                  </a:txBody>
                  <a:tcPr marL="54864" marR="54864" marT="36576" marB="36576">
                    <a:solidFill>
                      <a:srgbClr val="074662"/>
                    </a:solidFill>
                  </a:tcPr>
                </a:tc>
                <a:tc>
                  <a:txBody>
                    <a:bodyPr/>
                    <a:lstStyle/>
                    <a:p>
                      <a:pPr>
                        <a:defRPr sz="850" b="1">
                          <a:solidFill>
                            <a:srgbClr val="FFFFFF"/>
                          </a:solidFill>
                          <a:latin typeface="Aptos"/>
                        </a:defRPr>
                      </a:pPr>
                      <a:r>
                        <a:t>Responsabilités principales</a:t>
                      </a:r>
                    </a:p>
                  </a:txBody>
                  <a:tcPr marL="54864" marR="54864" marT="36576" marB="36576">
                    <a:solidFill>
                      <a:srgbClr val="074662"/>
                    </a:solidFill>
                  </a:tcPr>
                </a:tc>
              </a:tr>
              <a:tr h="723900">
                <a:tc>
                  <a:txBody>
                    <a:bodyPr/>
                    <a:lstStyle/>
                    <a:p>
                      <a:pPr>
                        <a:defRPr sz="850" b="0">
                          <a:solidFill>
                            <a:srgbClr val="053146"/>
                          </a:solidFill>
                          <a:latin typeface="Aptos"/>
                        </a:defRPr>
                      </a:pPr>
                      <a:r>
                        <a:t>Chef de projet</a:t>
                      </a:r>
                    </a:p>
                  </a:txBody>
                  <a:tcPr marL="54864" marR="54864" marT="36576" marB="36576">
                    <a:solidFill>
                      <a:srgbClr val="FFFFFF"/>
                    </a:solidFill>
                  </a:tcPr>
                </a:tc>
                <a:tc>
                  <a:txBody>
                    <a:bodyPr/>
                    <a:lstStyle/>
                    <a:p>
                      <a:pPr>
                        <a:defRPr sz="850" b="0">
                          <a:solidFill>
                            <a:srgbClr val="053146"/>
                          </a:solidFill>
                          <a:latin typeface="Aptos"/>
                        </a:defRPr>
                      </a:pPr>
                      <a:r>
                        <a:t>Planification, suivi, budget, risques, documentation</a:t>
                      </a:r>
                    </a:p>
                  </a:txBody>
                  <a:tcPr marL="54864" marR="54864" marT="36576" marB="36576">
                    <a:solidFill>
                      <a:srgbClr val="FFFFFF"/>
                    </a:solidFill>
                  </a:tcPr>
                </a:tc>
              </a:tr>
              <a:tr h="723900">
                <a:tc>
                  <a:txBody>
                    <a:bodyPr/>
                    <a:lstStyle/>
                    <a:p>
                      <a:pPr>
                        <a:defRPr sz="850" b="0">
                          <a:solidFill>
                            <a:srgbClr val="053146"/>
                          </a:solidFill>
                          <a:latin typeface="Aptos"/>
                        </a:defRPr>
                      </a:pPr>
                      <a:r>
                        <a:t>Cloud Architect</a:t>
                      </a:r>
                    </a:p>
                  </a:txBody>
                  <a:tcPr marL="54864" marR="54864" marT="36576" marB="36576">
                    <a:solidFill>
                      <a:srgbClr val="F2F7F9"/>
                    </a:solidFill>
                  </a:tcPr>
                </a:tc>
                <a:tc>
                  <a:txBody>
                    <a:bodyPr/>
                    <a:lstStyle/>
                    <a:p>
                      <a:pPr>
                        <a:defRPr sz="850" b="0">
                          <a:solidFill>
                            <a:srgbClr val="053146"/>
                          </a:solidFill>
                          <a:latin typeface="Aptos"/>
                        </a:defRPr>
                      </a:pPr>
                      <a:r>
                        <a:t>Architecture Azure, réseau, sécurité, Terraform</a:t>
                      </a:r>
                    </a:p>
                  </a:txBody>
                  <a:tcPr marL="54864" marR="54864" marT="36576" marB="36576">
                    <a:solidFill>
                      <a:srgbClr val="F2F7F9"/>
                    </a:solidFill>
                  </a:tcPr>
                </a:tc>
              </a:tr>
              <a:tr h="723900">
                <a:tc>
                  <a:txBody>
                    <a:bodyPr/>
                    <a:lstStyle/>
                    <a:p>
                      <a:pPr>
                        <a:defRPr sz="850" b="0">
                          <a:solidFill>
                            <a:srgbClr val="053146"/>
                          </a:solidFill>
                          <a:latin typeface="Aptos"/>
                        </a:defRPr>
                      </a:pPr>
                      <a:r>
                        <a:t>Développeur SIEM/SOAR</a:t>
                      </a:r>
                    </a:p>
                  </a:txBody>
                  <a:tcPr marL="54864" marR="54864" marT="36576" marB="36576">
                    <a:solidFill>
                      <a:srgbClr val="FFFFFF"/>
                    </a:solidFill>
                  </a:tcPr>
                </a:tc>
                <a:tc>
                  <a:txBody>
                    <a:bodyPr/>
                    <a:lstStyle/>
                    <a:p>
                      <a:pPr>
                        <a:defRPr sz="850" b="0">
                          <a:solidFill>
                            <a:srgbClr val="053146"/>
                          </a:solidFill>
                          <a:latin typeface="Aptos"/>
                        </a:defRPr>
                      </a:pPr>
                      <a:r>
                        <a:t>Sentinel, KQL, Logic Apps, automatisation</a:t>
                      </a:r>
                    </a:p>
                  </a:txBody>
                  <a:tcPr marL="54864" marR="54864" marT="36576" marB="36576">
                    <a:solidFill>
                      <a:srgbClr val="FFFFFF"/>
                    </a:solidFill>
                  </a:tcPr>
                </a:tc>
              </a:tr>
              <a:tr h="723900">
                <a:tc>
                  <a:txBody>
                    <a:bodyPr/>
                    <a:lstStyle/>
                    <a:p>
                      <a:pPr>
                        <a:defRPr sz="850" b="0">
                          <a:solidFill>
                            <a:srgbClr val="053146"/>
                          </a:solidFill>
                          <a:latin typeface="Aptos"/>
                        </a:defRPr>
                      </a:pPr>
                      <a:r>
                        <a:t>Data Scientist</a:t>
                      </a:r>
                    </a:p>
                  </a:txBody>
                  <a:tcPr marL="54864" marR="54864" marT="36576" marB="36576">
                    <a:solidFill>
                      <a:srgbClr val="F2F7F9"/>
                    </a:solidFill>
                  </a:tcPr>
                </a:tc>
                <a:tc>
                  <a:txBody>
                    <a:bodyPr/>
                    <a:lstStyle/>
                    <a:p>
                      <a:pPr>
                        <a:defRPr sz="850" b="0">
                          <a:solidFill>
                            <a:srgbClr val="053146"/>
                          </a:solidFill>
                          <a:latin typeface="Aptos"/>
                        </a:defRPr>
                      </a:pPr>
                      <a:r>
                        <a:t>Feature engineering, modèles ML, évaluation</a:t>
                      </a:r>
                    </a:p>
                  </a:txBody>
                  <a:tcPr marL="54864" marR="54864" marT="36576" marB="36576">
                    <a:solidFill>
                      <a:srgbClr val="F2F7F9"/>
                    </a:solidFill>
                  </a:tcPr>
                </a:tc>
              </a:tr>
              <a:tr h="723900">
                <a:tc>
                  <a:txBody>
                    <a:bodyPr/>
                    <a:lstStyle/>
                    <a:p>
                      <a:pPr>
                        <a:defRPr sz="850" b="0">
                          <a:solidFill>
                            <a:srgbClr val="053146"/>
                          </a:solidFill>
                          <a:latin typeface="Aptos"/>
                        </a:defRPr>
                      </a:pPr>
                      <a:r>
                        <a:t>DevSecOps</a:t>
                      </a:r>
                    </a:p>
                  </a:txBody>
                  <a:tcPr marL="54864" marR="54864" marT="36576" marB="36576">
                    <a:solidFill>
                      <a:srgbClr val="FFFFFF"/>
                    </a:solidFill>
                  </a:tcPr>
                </a:tc>
                <a:tc>
                  <a:txBody>
                    <a:bodyPr/>
                    <a:lstStyle/>
                    <a:p>
                      <a:pPr>
                        <a:defRPr sz="850" b="0">
                          <a:solidFill>
                            <a:srgbClr val="053146"/>
                          </a:solidFill>
                          <a:latin typeface="Aptos"/>
                        </a:defRPr>
                      </a:pPr>
                      <a:r>
                        <a:t>Linux, Docker, systemd, scripts de collecte</a:t>
                      </a:r>
                    </a:p>
                  </a:txBody>
                  <a:tcPr marL="54864" marR="54864" marT="36576" marB="36576">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5/7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29</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Gestion des risques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Anticiper les blocages techniques et budgétaires</a:t>
            </a:r>
          </a:p>
        </p:txBody>
      </p:sp>
      <p:graphicFrame>
        <p:nvGraphicFramePr>
          <p:cNvPr id="18" name="Table 17"/>
          <p:cNvGraphicFramePr>
            <a:graphicFrameLocks noGrp="1"/>
          </p:cNvGraphicFramePr>
          <p:nvPr/>
        </p:nvGraphicFramePr>
        <p:xfrm>
          <a:off x="685800" y="1508760"/>
          <a:ext cx="10835640" cy="4343400"/>
        </p:xfrm>
        <a:graphic>
          <a:graphicData uri="http://schemas.openxmlformats.org/drawingml/2006/table">
            <a:tbl>
              <a:tblPr firstRow="1" bandRow="1">
                <a:tableStyleId>{5C22544A-7EE6-4342-B048-85BDC9FD1C3A}</a:tableStyleId>
              </a:tblPr>
              <a:tblGrid>
                <a:gridCol w="3611880"/>
                <a:gridCol w="3611880"/>
                <a:gridCol w="3611880"/>
              </a:tblGrid>
              <a:tr h="723900">
                <a:tc>
                  <a:txBody>
                    <a:bodyPr/>
                    <a:lstStyle/>
                    <a:p>
                      <a:pPr>
                        <a:defRPr sz="850" b="1">
                          <a:solidFill>
                            <a:srgbClr val="FFFFFF"/>
                          </a:solidFill>
                          <a:latin typeface="Aptos"/>
                        </a:defRPr>
                      </a:pPr>
                      <a:r>
                        <a:t>Risque</a:t>
                      </a:r>
                    </a:p>
                  </a:txBody>
                  <a:tcPr marL="54864" marR="54864" marT="36576" marB="36576">
                    <a:solidFill>
                      <a:srgbClr val="074662"/>
                    </a:solidFill>
                  </a:tcPr>
                </a:tc>
                <a:tc>
                  <a:txBody>
                    <a:bodyPr/>
                    <a:lstStyle/>
                    <a:p>
                      <a:pPr>
                        <a:defRPr sz="850" b="1">
                          <a:solidFill>
                            <a:srgbClr val="FFFFFF"/>
                          </a:solidFill>
                          <a:latin typeface="Aptos"/>
                        </a:defRPr>
                      </a:pPr>
                      <a:r>
                        <a:t>Impact</a:t>
                      </a:r>
                    </a:p>
                  </a:txBody>
                  <a:tcPr marL="54864" marR="54864" marT="36576" marB="36576">
                    <a:solidFill>
                      <a:srgbClr val="074662"/>
                    </a:solidFill>
                  </a:tcPr>
                </a:tc>
                <a:tc>
                  <a:txBody>
                    <a:bodyPr/>
                    <a:lstStyle/>
                    <a:p>
                      <a:pPr>
                        <a:defRPr sz="850" b="1">
                          <a:solidFill>
                            <a:srgbClr val="FFFFFF"/>
                          </a:solidFill>
                          <a:latin typeface="Aptos"/>
                        </a:defRPr>
                      </a:pPr>
                      <a:r>
                        <a:t>Mitigation</a:t>
                      </a:r>
                    </a:p>
                  </a:txBody>
                  <a:tcPr marL="54864" marR="54864" marT="36576" marB="36576">
                    <a:solidFill>
                      <a:srgbClr val="074662"/>
                    </a:solidFill>
                  </a:tcPr>
                </a:tc>
              </a:tr>
              <a:tr h="723900">
                <a:tc>
                  <a:txBody>
                    <a:bodyPr/>
                    <a:lstStyle/>
                    <a:p>
                      <a:pPr>
                        <a:defRPr sz="850" b="0">
                          <a:solidFill>
                            <a:srgbClr val="053146"/>
                          </a:solidFill>
                          <a:latin typeface="Aptos"/>
                        </a:defRPr>
                      </a:pPr>
                      <a:r>
                        <a:t>Dépassement budget Azure</a:t>
                      </a:r>
                    </a:p>
                  </a:txBody>
                  <a:tcPr marL="54864" marR="54864" marT="36576" marB="36576">
                    <a:solidFill>
                      <a:srgbClr val="FFFFFF"/>
                    </a:solidFill>
                  </a:tcPr>
                </a:tc>
                <a:tc>
                  <a:txBody>
                    <a:bodyPr/>
                    <a:lstStyle/>
                    <a:p>
                      <a:pPr>
                        <a:defRPr sz="850" b="0">
                          <a:solidFill>
                            <a:srgbClr val="053146"/>
                          </a:solidFill>
                          <a:latin typeface="Aptos"/>
                        </a:defRPr>
                      </a:pPr>
                      <a:r>
                        <a:t>Élevé</a:t>
                      </a:r>
                    </a:p>
                  </a:txBody>
                  <a:tcPr marL="54864" marR="54864" marT="36576" marB="36576">
                    <a:solidFill>
                      <a:srgbClr val="FFFFFF"/>
                    </a:solidFill>
                  </a:tcPr>
                </a:tc>
                <a:tc>
                  <a:txBody>
                    <a:bodyPr/>
                    <a:lstStyle/>
                    <a:p>
                      <a:pPr>
                        <a:defRPr sz="850" b="0">
                          <a:solidFill>
                            <a:srgbClr val="053146"/>
                          </a:solidFill>
                          <a:latin typeface="Aptos"/>
                        </a:defRPr>
                      </a:pPr>
                      <a:r>
                        <a:t>Cost Management, auto-shutdown, filtrage</a:t>
                      </a:r>
                    </a:p>
                  </a:txBody>
                  <a:tcPr marL="54864" marR="54864" marT="36576" marB="36576">
                    <a:solidFill>
                      <a:srgbClr val="FFFFFF"/>
                    </a:solidFill>
                  </a:tcPr>
                </a:tc>
              </a:tr>
              <a:tr h="723900">
                <a:tc>
                  <a:txBody>
                    <a:bodyPr/>
                    <a:lstStyle/>
                    <a:p>
                      <a:pPr>
                        <a:defRPr sz="850" b="0">
                          <a:solidFill>
                            <a:srgbClr val="053146"/>
                          </a:solidFill>
                          <a:latin typeface="Aptos"/>
                        </a:defRPr>
                      </a:pPr>
                      <a:r>
                        <a:t>Volume Sentinel trop élevé</a:t>
                      </a:r>
                    </a:p>
                  </a:txBody>
                  <a:tcPr marL="54864" marR="54864" marT="36576" marB="36576">
                    <a:solidFill>
                      <a:srgbClr val="F2F7F9"/>
                    </a:solidFill>
                  </a:tcPr>
                </a:tc>
                <a:tc>
                  <a:txBody>
                    <a:bodyPr/>
                    <a:lstStyle/>
                    <a:p>
                      <a:pPr>
                        <a:defRPr sz="850" b="0">
                          <a:solidFill>
                            <a:srgbClr val="053146"/>
                          </a:solidFill>
                          <a:latin typeface="Aptos"/>
                        </a:defRPr>
                      </a:pPr>
                      <a:r>
                        <a:t>Élevé</a:t>
                      </a:r>
                    </a:p>
                  </a:txBody>
                  <a:tcPr marL="54864" marR="54864" marT="36576" marB="36576">
                    <a:solidFill>
                      <a:srgbClr val="F2F7F9"/>
                    </a:solidFill>
                  </a:tcPr>
                </a:tc>
                <a:tc>
                  <a:txBody>
                    <a:bodyPr/>
                    <a:lstStyle/>
                    <a:p>
                      <a:pPr>
                        <a:defRPr sz="850" b="0">
                          <a:solidFill>
                            <a:srgbClr val="053146"/>
                          </a:solidFill>
                          <a:latin typeface="Aptos"/>
                        </a:defRPr>
                      </a:pPr>
                      <a:r>
                        <a:t>DCR ciblées, rétention contrôlée</a:t>
                      </a:r>
                    </a:p>
                  </a:txBody>
                  <a:tcPr marL="54864" marR="54864" marT="36576" marB="36576">
                    <a:solidFill>
                      <a:srgbClr val="F2F7F9"/>
                    </a:solidFill>
                  </a:tcPr>
                </a:tc>
              </a:tr>
              <a:tr h="723900">
                <a:tc>
                  <a:txBody>
                    <a:bodyPr/>
                    <a:lstStyle/>
                    <a:p>
                      <a:pPr>
                        <a:defRPr sz="850" b="0">
                          <a:solidFill>
                            <a:srgbClr val="053146"/>
                          </a:solidFill>
                          <a:latin typeface="Aptos"/>
                        </a:defRPr>
                      </a:pPr>
                      <a:r>
                        <a:t>Données insuffisantes</a:t>
                      </a:r>
                    </a:p>
                  </a:txBody>
                  <a:tcPr marL="54864" marR="54864" marT="36576" marB="36576">
                    <a:solidFill>
                      <a:srgbClr val="FFFFFF"/>
                    </a:solidFill>
                  </a:tcPr>
                </a:tc>
                <a:tc>
                  <a:txBody>
                    <a:bodyPr/>
                    <a:lstStyle/>
                    <a:p>
                      <a:pPr>
                        <a:defRPr sz="850" b="0">
                          <a:solidFill>
                            <a:srgbClr val="053146"/>
                          </a:solidFill>
                          <a:latin typeface="Aptos"/>
                        </a:defRPr>
                      </a:pPr>
                      <a:r>
                        <a:t>Moyen</a:t>
                      </a:r>
                    </a:p>
                  </a:txBody>
                  <a:tcPr marL="54864" marR="54864" marT="36576" marB="36576">
                    <a:solidFill>
                      <a:srgbClr val="FFFFFF"/>
                    </a:solidFill>
                  </a:tcPr>
                </a:tc>
                <a:tc>
                  <a:txBody>
                    <a:bodyPr/>
                    <a:lstStyle/>
                    <a:p>
                      <a:pPr>
                        <a:defRPr sz="850" b="0">
                          <a:solidFill>
                            <a:srgbClr val="053146"/>
                          </a:solidFill>
                          <a:latin typeface="Aptos"/>
                        </a:defRPr>
                      </a:pPr>
                      <a:r>
                        <a:t>Déploiement précoce du honeypot</a:t>
                      </a:r>
                    </a:p>
                  </a:txBody>
                  <a:tcPr marL="54864" marR="54864" marT="36576" marB="36576">
                    <a:solidFill>
                      <a:srgbClr val="FFFFFF"/>
                    </a:solidFill>
                  </a:tcPr>
                </a:tc>
              </a:tr>
              <a:tr h="723900">
                <a:tc>
                  <a:txBody>
                    <a:bodyPr/>
                    <a:lstStyle/>
                    <a:p>
                      <a:pPr>
                        <a:defRPr sz="850" b="0">
                          <a:solidFill>
                            <a:srgbClr val="053146"/>
                          </a:solidFill>
                          <a:latin typeface="Aptos"/>
                        </a:defRPr>
                      </a:pPr>
                      <a:r>
                        <a:t>Faux positifs ML</a:t>
                      </a:r>
                    </a:p>
                  </a:txBody>
                  <a:tcPr marL="54864" marR="54864" marT="36576" marB="36576">
                    <a:solidFill>
                      <a:srgbClr val="F2F7F9"/>
                    </a:solidFill>
                  </a:tcPr>
                </a:tc>
                <a:tc>
                  <a:txBody>
                    <a:bodyPr/>
                    <a:lstStyle/>
                    <a:p>
                      <a:pPr>
                        <a:defRPr sz="850" b="0">
                          <a:solidFill>
                            <a:srgbClr val="053146"/>
                          </a:solidFill>
                          <a:latin typeface="Aptos"/>
                        </a:defRPr>
                      </a:pPr>
                      <a:r>
                        <a:t>Moyen</a:t>
                      </a:r>
                    </a:p>
                  </a:txBody>
                  <a:tcPr marL="54864" marR="54864" marT="36576" marB="36576">
                    <a:solidFill>
                      <a:srgbClr val="F2F7F9"/>
                    </a:solidFill>
                  </a:tcPr>
                </a:tc>
                <a:tc>
                  <a:txBody>
                    <a:bodyPr/>
                    <a:lstStyle/>
                    <a:p>
                      <a:pPr>
                        <a:defRPr sz="850" b="0">
                          <a:solidFill>
                            <a:srgbClr val="053146"/>
                          </a:solidFill>
                          <a:latin typeface="Aptos"/>
                        </a:defRPr>
                      </a:pPr>
                      <a:r>
                        <a:t>Calibration et validation manuelle</a:t>
                      </a:r>
                    </a:p>
                  </a:txBody>
                  <a:tcPr marL="54864" marR="54864" marT="36576" marB="36576">
                    <a:solidFill>
                      <a:srgbClr val="F2F7F9"/>
                    </a:solidFill>
                  </a:tcPr>
                </a:tc>
              </a:tr>
              <a:tr h="723900">
                <a:tc>
                  <a:txBody>
                    <a:bodyPr/>
                    <a:lstStyle/>
                    <a:p>
                      <a:pPr>
                        <a:defRPr sz="850" b="0">
                          <a:solidFill>
                            <a:srgbClr val="053146"/>
                          </a:solidFill>
                          <a:latin typeface="Aptos"/>
                        </a:defRPr>
                      </a:pPr>
                      <a:r>
                        <a:t>Complexité Terraform</a:t>
                      </a:r>
                    </a:p>
                  </a:txBody>
                  <a:tcPr marL="54864" marR="54864" marT="36576" marB="36576">
                    <a:solidFill>
                      <a:srgbClr val="FFFFFF"/>
                    </a:solidFill>
                  </a:tcPr>
                </a:tc>
                <a:tc>
                  <a:txBody>
                    <a:bodyPr/>
                    <a:lstStyle/>
                    <a:p>
                      <a:pPr>
                        <a:defRPr sz="850" b="0">
                          <a:solidFill>
                            <a:srgbClr val="053146"/>
                          </a:solidFill>
                          <a:latin typeface="Aptos"/>
                        </a:defRPr>
                      </a:pPr>
                      <a:r>
                        <a:t>Moyen</a:t>
                      </a:r>
                    </a:p>
                  </a:txBody>
                  <a:tcPr marL="54864" marR="54864" marT="36576" marB="36576">
                    <a:solidFill>
                      <a:srgbClr val="FFFFFF"/>
                    </a:solidFill>
                  </a:tcPr>
                </a:tc>
                <a:tc>
                  <a:txBody>
                    <a:bodyPr/>
                    <a:lstStyle/>
                    <a:p>
                      <a:pPr>
                        <a:defRPr sz="850" b="0">
                          <a:solidFill>
                            <a:srgbClr val="053146"/>
                          </a:solidFill>
                          <a:latin typeface="Aptos"/>
                        </a:defRPr>
                      </a:pPr>
                      <a:r>
                        <a:t>Modules séparés et déploiement progressif</a:t>
                      </a:r>
                    </a:p>
                  </a:txBody>
                  <a:tcPr marL="54864" marR="54864" marT="36576" marB="36576">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6/7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30</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Indicateurs de pilotage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Mesurer la réussite technique et opérationnelle</a:t>
            </a:r>
          </a:p>
        </p:txBody>
      </p:sp>
      <p:sp>
        <p:nvSpPr>
          <p:cNvPr id="18" name="Rounded Rectangle 17"/>
          <p:cNvSpPr/>
          <p:nvPr/>
        </p:nvSpPr>
        <p:spPr>
          <a:xfrm>
            <a:off x="68580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1673352"/>
            <a:ext cx="2249424" cy="320040"/>
          </a:xfrm>
          <a:prstGeom prst="rect">
            <a:avLst/>
          </a:prstGeom>
          <a:noFill/>
        </p:spPr>
        <p:txBody>
          <a:bodyPr wrap="square" lIns="0" rIns="0" tIns="0" bIns="0">
            <a:spAutoFit/>
          </a:bodyPr>
          <a:lstStyle/>
          <a:p>
            <a:pPr algn="ctr"/>
            <a:r>
              <a:rPr sz="1800" b="1" i="0">
                <a:solidFill>
                  <a:srgbClr val="1870A0"/>
                </a:solidFill>
                <a:latin typeface="Aptos"/>
              </a:rPr>
              <a:t>&lt; 1 h</a:t>
            </a:r>
          </a:p>
        </p:txBody>
      </p:sp>
      <p:sp>
        <p:nvSpPr>
          <p:cNvPr id="20" name="TextBox 19"/>
          <p:cNvSpPr txBox="1"/>
          <p:nvPr/>
        </p:nvSpPr>
        <p:spPr>
          <a:xfrm>
            <a:off x="795528" y="2084831"/>
            <a:ext cx="2249424" cy="320040"/>
          </a:xfrm>
          <a:prstGeom prst="rect">
            <a:avLst/>
          </a:prstGeom>
          <a:noFill/>
        </p:spPr>
        <p:txBody>
          <a:bodyPr wrap="square" lIns="0" rIns="0" tIns="0" bIns="0">
            <a:spAutoFit/>
          </a:bodyPr>
          <a:lstStyle/>
          <a:p>
            <a:pPr algn="ctr"/>
            <a:r>
              <a:rPr sz="850" b="0" i="0">
                <a:solidFill>
                  <a:srgbClr val="053146"/>
                </a:solidFill>
                <a:latin typeface="Aptos"/>
              </a:rPr>
              <a:t>Déploiement infrastructure</a:t>
            </a:r>
          </a:p>
        </p:txBody>
      </p:sp>
      <p:sp>
        <p:nvSpPr>
          <p:cNvPr id="21" name="Rounded Rectangle 20"/>
          <p:cNvSpPr/>
          <p:nvPr/>
        </p:nvSpPr>
        <p:spPr>
          <a:xfrm>
            <a:off x="347472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4448" y="1673352"/>
            <a:ext cx="2249424" cy="320040"/>
          </a:xfrm>
          <a:prstGeom prst="rect">
            <a:avLst/>
          </a:prstGeom>
          <a:noFill/>
        </p:spPr>
        <p:txBody>
          <a:bodyPr wrap="square" lIns="0" rIns="0" tIns="0" bIns="0">
            <a:spAutoFit/>
          </a:bodyPr>
          <a:lstStyle/>
          <a:p>
            <a:pPr algn="ctr"/>
            <a:r>
              <a:rPr sz="1800" b="1" i="0">
                <a:solidFill>
                  <a:srgbClr val="1AA09E"/>
                </a:solidFill>
                <a:latin typeface="Aptos"/>
              </a:rPr>
              <a:t>&gt; 10k</a:t>
            </a:r>
          </a:p>
        </p:txBody>
      </p:sp>
      <p:sp>
        <p:nvSpPr>
          <p:cNvPr id="23" name="TextBox 22"/>
          <p:cNvSpPr txBox="1"/>
          <p:nvPr/>
        </p:nvSpPr>
        <p:spPr>
          <a:xfrm>
            <a:off x="3584448" y="2084831"/>
            <a:ext cx="2249424" cy="320040"/>
          </a:xfrm>
          <a:prstGeom prst="rect">
            <a:avLst/>
          </a:prstGeom>
          <a:noFill/>
        </p:spPr>
        <p:txBody>
          <a:bodyPr wrap="square" lIns="0" rIns="0" tIns="0" bIns="0">
            <a:spAutoFit/>
          </a:bodyPr>
          <a:lstStyle/>
          <a:p>
            <a:pPr algn="ctr"/>
            <a:r>
              <a:rPr sz="850" b="0" i="0">
                <a:solidFill>
                  <a:srgbClr val="053146"/>
                </a:solidFill>
                <a:latin typeface="Aptos"/>
              </a:rPr>
              <a:t>Requêtes malveillantes capturées</a:t>
            </a:r>
          </a:p>
        </p:txBody>
      </p:sp>
      <p:sp>
        <p:nvSpPr>
          <p:cNvPr id="24" name="Rounded Rectangle 23"/>
          <p:cNvSpPr/>
          <p:nvPr/>
        </p:nvSpPr>
        <p:spPr>
          <a:xfrm>
            <a:off x="626364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1673352"/>
            <a:ext cx="2249424" cy="320040"/>
          </a:xfrm>
          <a:prstGeom prst="rect">
            <a:avLst/>
          </a:prstGeom>
          <a:noFill/>
        </p:spPr>
        <p:txBody>
          <a:bodyPr wrap="square" lIns="0" rIns="0" tIns="0" bIns="0">
            <a:spAutoFit/>
          </a:bodyPr>
          <a:lstStyle/>
          <a:p>
            <a:pPr algn="ctr"/>
            <a:r>
              <a:rPr sz="1800" b="1" i="0">
                <a:solidFill>
                  <a:srgbClr val="E08E2C"/>
                </a:solidFill>
                <a:latin typeface="Aptos"/>
              </a:rPr>
              <a:t>&lt; 5 min</a:t>
            </a:r>
          </a:p>
        </p:txBody>
      </p:sp>
      <p:sp>
        <p:nvSpPr>
          <p:cNvPr id="26" name="TextBox 25"/>
          <p:cNvSpPr txBox="1"/>
          <p:nvPr/>
        </p:nvSpPr>
        <p:spPr>
          <a:xfrm>
            <a:off x="6373368" y="2084831"/>
            <a:ext cx="2249424" cy="320040"/>
          </a:xfrm>
          <a:prstGeom prst="rect">
            <a:avLst/>
          </a:prstGeom>
          <a:noFill/>
        </p:spPr>
        <p:txBody>
          <a:bodyPr wrap="square" lIns="0" rIns="0" tIns="0" bIns="0">
            <a:spAutoFit/>
          </a:bodyPr>
          <a:lstStyle/>
          <a:p>
            <a:pPr algn="ctr"/>
            <a:r>
              <a:rPr sz="850" b="0" i="0">
                <a:solidFill>
                  <a:srgbClr val="053146"/>
                </a:solidFill>
                <a:latin typeface="Aptos"/>
              </a:rPr>
              <a:t>Temps de détection visé</a:t>
            </a:r>
          </a:p>
        </p:txBody>
      </p:sp>
      <p:sp>
        <p:nvSpPr>
          <p:cNvPr id="27" name="Rounded Rectangle 26"/>
          <p:cNvSpPr/>
          <p:nvPr/>
        </p:nvSpPr>
        <p:spPr>
          <a:xfrm>
            <a:off x="9052560" y="1508760"/>
            <a:ext cx="2468880" cy="1097280"/>
          </a:xfrm>
          <a:prstGeom prst="roundRect">
            <a:avLst/>
          </a:prstGeom>
          <a:solidFill>
            <a:srgbClr val="F2F7F9"/>
          </a:solidFill>
          <a:ln>
            <a:solidFill>
              <a:srgbClr val="F2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2288" y="1673352"/>
            <a:ext cx="2249424" cy="320040"/>
          </a:xfrm>
          <a:prstGeom prst="rect">
            <a:avLst/>
          </a:prstGeom>
          <a:noFill/>
        </p:spPr>
        <p:txBody>
          <a:bodyPr wrap="square" lIns="0" rIns="0" tIns="0" bIns="0">
            <a:spAutoFit/>
          </a:bodyPr>
          <a:lstStyle/>
          <a:p>
            <a:pPr algn="ctr"/>
            <a:r>
              <a:rPr sz="1800" b="1" i="0">
                <a:solidFill>
                  <a:srgbClr val="309C58"/>
                </a:solidFill>
                <a:latin typeface="Aptos"/>
              </a:rPr>
              <a:t>&lt; 100 USD</a:t>
            </a:r>
          </a:p>
        </p:txBody>
      </p:sp>
      <p:sp>
        <p:nvSpPr>
          <p:cNvPr id="29" name="TextBox 28"/>
          <p:cNvSpPr txBox="1"/>
          <p:nvPr/>
        </p:nvSpPr>
        <p:spPr>
          <a:xfrm>
            <a:off x="9162288" y="2084831"/>
            <a:ext cx="2249424" cy="320040"/>
          </a:xfrm>
          <a:prstGeom prst="rect">
            <a:avLst/>
          </a:prstGeom>
          <a:noFill/>
        </p:spPr>
        <p:txBody>
          <a:bodyPr wrap="square" lIns="0" rIns="0" tIns="0" bIns="0">
            <a:spAutoFit/>
          </a:bodyPr>
          <a:lstStyle/>
          <a:p>
            <a:pPr algn="ctr"/>
            <a:r>
              <a:rPr sz="850" b="0" i="0">
                <a:solidFill>
                  <a:srgbClr val="053146"/>
                </a:solidFill>
                <a:latin typeface="Aptos"/>
              </a:rPr>
              <a:t>Respect du budget initial</a:t>
            </a:r>
          </a:p>
        </p:txBody>
      </p:sp>
      <p:sp>
        <p:nvSpPr>
          <p:cNvPr id="30" name="Rounded Rectangle 29"/>
          <p:cNvSpPr/>
          <p:nvPr/>
        </p:nvSpPr>
        <p:spPr>
          <a:xfrm>
            <a:off x="1005840" y="3063240"/>
            <a:ext cx="10058400" cy="214884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5840" y="3063240"/>
            <a:ext cx="73152" cy="214884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07008" y="3227832"/>
            <a:ext cx="9729216" cy="274320"/>
          </a:xfrm>
          <a:prstGeom prst="rect">
            <a:avLst/>
          </a:prstGeom>
          <a:noFill/>
        </p:spPr>
        <p:txBody>
          <a:bodyPr wrap="square" lIns="0" rIns="0" tIns="0" bIns="0">
            <a:spAutoFit/>
          </a:bodyPr>
          <a:lstStyle/>
          <a:p>
            <a:pPr algn="l"/>
            <a:r>
              <a:rPr sz="1300" b="1" i="0">
                <a:solidFill>
                  <a:srgbClr val="074662"/>
                </a:solidFill>
                <a:latin typeface="Aptos"/>
              </a:rPr>
              <a:t>Interprétation</a:t>
            </a:r>
          </a:p>
        </p:txBody>
      </p:sp>
      <p:sp>
        <p:nvSpPr>
          <p:cNvPr id="33" name="TextBox 32"/>
          <p:cNvSpPr txBox="1"/>
          <p:nvPr/>
        </p:nvSpPr>
        <p:spPr>
          <a:xfrm>
            <a:off x="1234440" y="3657600"/>
            <a:ext cx="9674352" cy="1417320"/>
          </a:xfrm>
          <a:prstGeom prst="rect">
            <a:avLst/>
          </a:prstGeom>
          <a:noFill/>
        </p:spPr>
        <p:txBody>
          <a:bodyPr wrap="square">
            <a:spAutoFit/>
          </a:bodyPr>
          <a:lstStyle/>
          <a:p>
            <a:pPr>
              <a:spcAft>
                <a:spcPts val="500"/>
              </a:spcAft>
              <a:defRPr sz="1030">
                <a:solidFill>
                  <a:srgbClr val="053146"/>
                </a:solidFill>
                <a:latin typeface="Aptos"/>
              </a:defRPr>
            </a:pPr>
            <a:r>
              <a:t>Logs centralisés et requêtables.</a:t>
            </a:r>
          </a:p>
          <a:p>
            <a:pPr>
              <a:spcAft>
                <a:spcPts val="500"/>
              </a:spcAft>
              <a:defRPr sz="1030">
                <a:solidFill>
                  <a:srgbClr val="053146"/>
                </a:solidFill>
                <a:latin typeface="Aptos"/>
              </a:defRPr>
            </a:pPr>
            <a:r>
              <a:t>Règles KQL fonctionnelles.</a:t>
            </a:r>
          </a:p>
          <a:p>
            <a:pPr>
              <a:spcAft>
                <a:spcPts val="500"/>
              </a:spcAft>
              <a:defRPr sz="1030">
                <a:solidFill>
                  <a:srgbClr val="053146"/>
                </a:solidFill>
                <a:latin typeface="Aptos"/>
              </a:defRPr>
            </a:pPr>
            <a:r>
              <a:t>Réponse SOAR testable.</a:t>
            </a:r>
          </a:p>
          <a:p>
            <a:pPr>
              <a:spcAft>
                <a:spcPts val="500"/>
              </a:spcAft>
              <a:defRPr sz="1030">
                <a:solidFill>
                  <a:srgbClr val="053146"/>
                </a:solidFill>
                <a:latin typeface="Aptos"/>
              </a:defRPr>
            </a:pPr>
            <a:r>
              <a:t>Dashboard Power BI exploitable.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Gestion de projet 7/7</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31</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Livrables et perspectives</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Résultats produits et améliorations futures</a:t>
            </a:r>
          </a:p>
        </p:txBody>
      </p:sp>
      <p:sp>
        <p:nvSpPr>
          <p:cNvPr id="18" name="Rounded Rectangle 17"/>
          <p:cNvSpPr/>
          <p:nvPr/>
        </p:nvSpPr>
        <p:spPr>
          <a:xfrm>
            <a:off x="658368"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1572768"/>
            <a:ext cx="73152" cy="3794760"/>
          </a:xfrm>
          <a:prstGeom prst="rect">
            <a:avLst/>
          </a:prstGeom>
          <a:solidFill>
            <a:srgbClr val="1870A0"/>
          </a:solidFill>
          <a:ln>
            <a:solidFill>
              <a:srgbClr val="187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1737360"/>
            <a:ext cx="3118103" cy="274320"/>
          </a:xfrm>
          <a:prstGeom prst="rect">
            <a:avLst/>
          </a:prstGeom>
          <a:noFill/>
        </p:spPr>
        <p:txBody>
          <a:bodyPr wrap="square" lIns="0" rIns="0" tIns="0" bIns="0">
            <a:spAutoFit/>
          </a:bodyPr>
          <a:lstStyle/>
          <a:p>
            <a:pPr algn="l"/>
            <a:r>
              <a:rPr sz="1300" b="1" i="0">
                <a:solidFill>
                  <a:srgbClr val="074662"/>
                </a:solidFill>
                <a:latin typeface="Aptos"/>
              </a:rPr>
              <a:t>Livrables</a:t>
            </a:r>
          </a:p>
        </p:txBody>
      </p:sp>
      <p:sp>
        <p:nvSpPr>
          <p:cNvPr id="21" name="TextBox 20"/>
          <p:cNvSpPr txBox="1"/>
          <p:nvPr/>
        </p:nvSpPr>
        <p:spPr>
          <a:xfrm>
            <a:off x="886968"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Infrastructure Azure</a:t>
            </a:r>
          </a:p>
          <a:p>
            <a:pPr>
              <a:spcAft>
                <a:spcPts val="500"/>
              </a:spcAft>
              <a:defRPr sz="1030">
                <a:solidFill>
                  <a:srgbClr val="053146"/>
                </a:solidFill>
                <a:latin typeface="Aptos"/>
              </a:defRPr>
            </a:pPr>
            <a:r>
              <a:t>Code Terraform</a:t>
            </a:r>
          </a:p>
          <a:p>
            <a:pPr>
              <a:spcAft>
                <a:spcPts val="500"/>
              </a:spcAft>
              <a:defRPr sz="1030">
                <a:solidFill>
                  <a:srgbClr val="053146"/>
                </a:solidFill>
                <a:latin typeface="Aptos"/>
              </a:defRPr>
            </a:pPr>
            <a:r>
              <a:t>Scripts ETL</a:t>
            </a:r>
          </a:p>
          <a:p>
            <a:pPr>
              <a:spcAft>
                <a:spcPts val="500"/>
              </a:spcAft>
              <a:defRPr sz="1030">
                <a:solidFill>
                  <a:srgbClr val="053146"/>
                </a:solidFill>
                <a:latin typeface="Aptos"/>
              </a:defRPr>
            </a:pPr>
            <a:r>
              <a:t>Règles KQL</a:t>
            </a:r>
          </a:p>
        </p:txBody>
      </p:sp>
      <p:sp>
        <p:nvSpPr>
          <p:cNvPr id="22" name="Rounded Rectangle 21"/>
          <p:cNvSpPr/>
          <p:nvPr/>
        </p:nvSpPr>
        <p:spPr>
          <a:xfrm>
            <a:off x="4398264"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1572768"/>
            <a:ext cx="73152" cy="379476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1" y="1737360"/>
            <a:ext cx="3118103" cy="274320"/>
          </a:xfrm>
          <a:prstGeom prst="rect">
            <a:avLst/>
          </a:prstGeom>
          <a:noFill/>
        </p:spPr>
        <p:txBody>
          <a:bodyPr wrap="square" lIns="0" rIns="0" tIns="0" bIns="0">
            <a:spAutoFit/>
          </a:bodyPr>
          <a:lstStyle/>
          <a:p>
            <a:pPr algn="l"/>
            <a:r>
              <a:rPr sz="1300" b="1" i="0">
                <a:solidFill>
                  <a:srgbClr val="074662"/>
                </a:solidFill>
                <a:latin typeface="Aptos"/>
              </a:rPr>
              <a:t>Validation</a:t>
            </a:r>
          </a:p>
        </p:txBody>
      </p:sp>
      <p:sp>
        <p:nvSpPr>
          <p:cNvPr id="25" name="TextBox 24"/>
          <p:cNvSpPr txBox="1"/>
          <p:nvPr/>
        </p:nvSpPr>
        <p:spPr>
          <a:xfrm>
            <a:off x="4626864"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Sentinel</a:t>
            </a:r>
          </a:p>
          <a:p>
            <a:pPr>
              <a:spcAft>
                <a:spcPts val="500"/>
              </a:spcAft>
              <a:defRPr sz="1030">
                <a:solidFill>
                  <a:srgbClr val="053146"/>
                </a:solidFill>
                <a:latin typeface="Aptos"/>
              </a:defRPr>
            </a:pPr>
            <a:r>
              <a:t>SOAR Logic Apps</a:t>
            </a:r>
          </a:p>
          <a:p>
            <a:pPr>
              <a:spcAft>
                <a:spcPts val="500"/>
              </a:spcAft>
              <a:defRPr sz="1030">
                <a:solidFill>
                  <a:srgbClr val="053146"/>
                </a:solidFill>
                <a:latin typeface="Aptos"/>
              </a:defRPr>
            </a:pPr>
            <a:r>
              <a:t>ML anomalies</a:t>
            </a:r>
          </a:p>
          <a:p>
            <a:pPr>
              <a:spcAft>
                <a:spcPts val="500"/>
              </a:spcAft>
              <a:defRPr sz="1030">
                <a:solidFill>
                  <a:srgbClr val="053146"/>
                </a:solidFill>
                <a:latin typeface="Aptos"/>
              </a:defRPr>
            </a:pPr>
            <a:r>
              <a:t>Power BI</a:t>
            </a:r>
          </a:p>
        </p:txBody>
      </p:sp>
      <p:sp>
        <p:nvSpPr>
          <p:cNvPr id="26" name="Rounded Rectangle 25"/>
          <p:cNvSpPr/>
          <p:nvPr/>
        </p:nvSpPr>
        <p:spPr>
          <a:xfrm>
            <a:off x="8138160" y="1572768"/>
            <a:ext cx="3447287" cy="379476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1572768"/>
            <a:ext cx="73152" cy="3794760"/>
          </a:xfrm>
          <a:prstGeom prst="rect">
            <a:avLst/>
          </a:prstGeom>
          <a:solidFill>
            <a:srgbClr val="1AA09E"/>
          </a:solidFill>
          <a:ln>
            <a:solidFill>
              <a:srgbClr val="1AA0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8" y="1737360"/>
            <a:ext cx="3118103" cy="274320"/>
          </a:xfrm>
          <a:prstGeom prst="rect">
            <a:avLst/>
          </a:prstGeom>
          <a:noFill/>
        </p:spPr>
        <p:txBody>
          <a:bodyPr wrap="square" lIns="0" rIns="0" tIns="0" bIns="0">
            <a:spAutoFit/>
          </a:bodyPr>
          <a:lstStyle/>
          <a:p>
            <a:pPr algn="l"/>
            <a:r>
              <a:rPr sz="1300" b="1" i="0">
                <a:solidFill>
                  <a:srgbClr val="074662"/>
                </a:solidFill>
                <a:latin typeface="Aptos"/>
              </a:rPr>
              <a:t>Perspectives</a:t>
            </a:r>
          </a:p>
        </p:txBody>
      </p:sp>
      <p:sp>
        <p:nvSpPr>
          <p:cNvPr id="29" name="TextBox 28"/>
          <p:cNvSpPr txBox="1"/>
          <p:nvPr/>
        </p:nvSpPr>
        <p:spPr>
          <a:xfrm>
            <a:off x="8366760" y="2167128"/>
            <a:ext cx="3063239" cy="3063240"/>
          </a:xfrm>
          <a:prstGeom prst="rect">
            <a:avLst/>
          </a:prstGeom>
          <a:noFill/>
        </p:spPr>
        <p:txBody>
          <a:bodyPr wrap="square">
            <a:spAutoFit/>
          </a:bodyPr>
          <a:lstStyle/>
          <a:p>
            <a:pPr>
              <a:spcAft>
                <a:spcPts val="500"/>
              </a:spcAft>
              <a:defRPr sz="1030">
                <a:solidFill>
                  <a:srgbClr val="053146"/>
                </a:solidFill>
                <a:latin typeface="Aptos"/>
              </a:defRPr>
            </a:pPr>
            <a:r>
              <a:t>Threat Intelligence</a:t>
            </a:r>
          </a:p>
          <a:p>
            <a:pPr>
              <a:spcAft>
                <a:spcPts val="500"/>
              </a:spcAft>
              <a:defRPr sz="1030">
                <a:solidFill>
                  <a:srgbClr val="053146"/>
                </a:solidFill>
                <a:latin typeface="Aptos"/>
              </a:defRPr>
            </a:pPr>
            <a:r>
              <a:t>Sigma vers KQL</a:t>
            </a:r>
          </a:p>
          <a:p>
            <a:pPr>
              <a:spcAft>
                <a:spcPts val="500"/>
              </a:spcAft>
              <a:defRPr sz="1030">
                <a:solidFill>
                  <a:srgbClr val="053146"/>
                </a:solidFill>
                <a:latin typeface="Aptos"/>
              </a:defRPr>
            </a:pPr>
            <a:r>
              <a:t>Multi-honeypots</a:t>
            </a:r>
          </a:p>
          <a:p>
            <a:pPr>
              <a:spcAft>
                <a:spcPts val="500"/>
              </a:spcAft>
              <a:defRPr sz="1030">
                <a:solidFill>
                  <a:srgbClr val="053146"/>
                </a:solidFill>
                <a:latin typeface="Aptos"/>
              </a:defRPr>
            </a:pPr>
            <a:r>
              <a:t>SaaS Azure Marketplace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Conclusion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32</a:t>
            </a:r>
          </a:p>
        </p:txBody>
      </p:sp>
      <p:sp>
        <p:nvSpPr>
          <p:cNvPr id="16" name="TextBox 15"/>
          <p:cNvSpPr txBox="1"/>
          <p:nvPr/>
        </p:nvSpPr>
        <p:spPr>
          <a:xfrm>
            <a:off x="566928" y="502920"/>
            <a:ext cx="9601200" cy="502920"/>
          </a:xfrm>
          <a:prstGeom prst="rect">
            <a:avLst/>
          </a:prstGeom>
          <a:noFill/>
        </p:spPr>
        <p:txBody>
          <a:bodyPr wrap="square" lIns="0" rIns="0" tIns="0" bIns="0">
            <a:spAutoFit/>
          </a:bodyPr>
          <a:lstStyle/>
          <a:p>
            <a:pPr algn="l"/>
            <a:r>
              <a:rPr sz="2500" b="1" i="1">
                <a:solidFill>
                  <a:srgbClr val="074662"/>
                </a:solidFill>
                <a:latin typeface="Georgia"/>
              </a:rPr>
              <a:t>Conclusion générale</a:t>
            </a:r>
          </a:p>
        </p:txBody>
      </p:sp>
      <p:sp>
        <p:nvSpPr>
          <p:cNvPr id="17" name="TextBox 16"/>
          <p:cNvSpPr txBox="1"/>
          <p:nvPr/>
        </p:nvSpPr>
        <p:spPr>
          <a:xfrm>
            <a:off x="594360" y="987552"/>
            <a:ext cx="9326880" cy="292608"/>
          </a:xfrm>
          <a:prstGeom prst="rect">
            <a:avLst/>
          </a:prstGeom>
          <a:noFill/>
        </p:spPr>
        <p:txBody>
          <a:bodyPr wrap="square" lIns="0" rIns="0" tIns="0" bIns="0">
            <a:spAutoFit/>
          </a:bodyPr>
          <a:lstStyle/>
          <a:p>
            <a:pPr algn="l"/>
            <a:r>
              <a:rPr sz="1200" b="0" i="0">
                <a:solidFill>
                  <a:srgbClr val="7C96A0"/>
                </a:solidFill>
                <a:latin typeface="Aptos"/>
              </a:rPr>
              <a:t>AITDR : une plateforme SOC cloud-native complète</a:t>
            </a:r>
          </a:p>
        </p:txBody>
      </p:sp>
      <p:sp>
        <p:nvSpPr>
          <p:cNvPr id="18" name="Rounded Rectangle 17"/>
          <p:cNvSpPr/>
          <p:nvPr/>
        </p:nvSpPr>
        <p:spPr>
          <a:xfrm>
            <a:off x="960120" y="1508760"/>
            <a:ext cx="10241280" cy="4297680"/>
          </a:xfrm>
          <a:prstGeom prst="roundRect">
            <a:avLst/>
          </a:prstGeom>
          <a:solidFill>
            <a:srgbClr val="F2F7F9"/>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 y="1508760"/>
            <a:ext cx="73152" cy="4297680"/>
          </a:xfrm>
          <a:prstGeom prst="rect">
            <a:avLst/>
          </a:prstGeom>
          <a:solidFill>
            <a:srgbClr val="309C58"/>
          </a:solidFill>
          <a:ln>
            <a:solidFill>
              <a:srgbClr val="309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1288" y="1673351"/>
            <a:ext cx="9912096" cy="274320"/>
          </a:xfrm>
          <a:prstGeom prst="rect">
            <a:avLst/>
          </a:prstGeom>
          <a:noFill/>
        </p:spPr>
        <p:txBody>
          <a:bodyPr wrap="square" lIns="0" rIns="0" tIns="0" bIns="0">
            <a:spAutoFit/>
          </a:bodyPr>
          <a:lstStyle/>
          <a:p>
            <a:pPr algn="l"/>
            <a:r>
              <a:rPr sz="1300" b="1" i="0">
                <a:solidFill>
                  <a:srgbClr val="074662"/>
                </a:solidFill>
                <a:latin typeface="Aptos"/>
              </a:rPr>
              <a:t>Synthèse</a:t>
            </a:r>
          </a:p>
        </p:txBody>
      </p:sp>
      <p:sp>
        <p:nvSpPr>
          <p:cNvPr id="21" name="TextBox 20"/>
          <p:cNvSpPr txBox="1"/>
          <p:nvPr/>
        </p:nvSpPr>
        <p:spPr>
          <a:xfrm>
            <a:off x="1188720" y="2103120"/>
            <a:ext cx="9857232" cy="3566160"/>
          </a:xfrm>
          <a:prstGeom prst="rect">
            <a:avLst/>
          </a:prstGeom>
          <a:noFill/>
        </p:spPr>
        <p:txBody>
          <a:bodyPr wrap="square">
            <a:spAutoFit/>
          </a:bodyPr>
          <a:lstStyle/>
          <a:p>
            <a:pPr>
              <a:spcAft>
                <a:spcPts val="500"/>
              </a:spcAft>
              <a:defRPr sz="1030">
                <a:solidFill>
                  <a:srgbClr val="053146"/>
                </a:solidFill>
                <a:latin typeface="Aptos"/>
              </a:defRPr>
            </a:pPr>
            <a:r>
              <a:t>AITDR démontre la faisabilité d'un SOC intelligent sur Azure avec un budget contrôlé.</a:t>
            </a:r>
          </a:p>
          <a:p>
            <a:pPr>
              <a:spcAft>
                <a:spcPts val="500"/>
              </a:spcAft>
              <a:defRPr sz="1030">
                <a:solidFill>
                  <a:srgbClr val="053146"/>
                </a:solidFill>
                <a:latin typeface="Aptos"/>
              </a:defRPr>
            </a:pPr>
            <a:r>
              <a:t>La solution combine infrastructure, collecte, SIEM, SOAR, Machine Learning et visualisation.</a:t>
            </a:r>
          </a:p>
          <a:p>
            <a:pPr>
              <a:spcAft>
                <a:spcPts val="500"/>
              </a:spcAft>
              <a:defRPr sz="1030">
                <a:solidFill>
                  <a:srgbClr val="053146"/>
                </a:solidFill>
                <a:latin typeface="Aptos"/>
              </a:defRPr>
            </a:pPr>
            <a:r>
              <a:t>La partie entrepreneuriale montre un potentiel de marché pour les PME et les MSSP.</a:t>
            </a:r>
          </a:p>
          <a:p>
            <a:pPr>
              <a:spcAft>
                <a:spcPts val="500"/>
              </a:spcAft>
              <a:defRPr sz="1030">
                <a:solidFill>
                  <a:srgbClr val="053146"/>
                </a:solidFill>
                <a:latin typeface="Aptos"/>
              </a:defRPr>
            </a:pPr>
            <a:r>
              <a:t>La gestion de projet prouve que la solution a été planifiée, suivie et validée de manière structurée.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103784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356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347472"/>
            <a:ext cx="118872" cy="118872"/>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02920"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6424"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07592" y="6355080"/>
            <a:ext cx="109728" cy="109728"/>
          </a:xfrm>
          <a:prstGeom prst="ellipse">
            <a:avLst/>
          </a:prstGeom>
          <a:solidFill>
            <a:srgbClr val="074662"/>
          </a:solidFill>
          <a:ln>
            <a:solidFill>
              <a:srgbClr val="074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658368"/>
            <a:ext cx="329184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6199632"/>
            <a:ext cx="2926080" cy="27432"/>
          </a:xfrm>
          <a:prstGeom prst="rect">
            <a:avLst/>
          </a:prstGeom>
          <a:solidFill>
            <a:srgbClr val="7C96A0"/>
          </a:solidFill>
          <a:ln>
            <a:solidFill>
              <a:srgbClr val="7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01168"/>
            <a:ext cx="3840480" cy="201168"/>
          </a:xfrm>
          <a:prstGeom prst="rect">
            <a:avLst/>
          </a:prstGeom>
          <a:noFill/>
        </p:spPr>
        <p:txBody>
          <a:bodyPr wrap="square" lIns="0" rIns="0" tIns="0" bIns="0">
            <a:spAutoFit/>
          </a:bodyPr>
          <a:lstStyle/>
          <a:p>
            <a:pPr algn="l"/>
            <a:r>
              <a:rPr sz="800" b="1" i="0">
                <a:solidFill>
                  <a:srgbClr val="7C96A0"/>
                </a:solidFill>
                <a:latin typeface="Aptos"/>
              </a:rPr>
              <a:t>Fin</a:t>
            </a:r>
          </a:p>
        </p:txBody>
      </p:sp>
      <p:sp>
        <p:nvSpPr>
          <p:cNvPr id="15" name="TextBox 14"/>
          <p:cNvSpPr txBox="1"/>
          <p:nvPr/>
        </p:nvSpPr>
        <p:spPr>
          <a:xfrm>
            <a:off x="11018520" y="6446520"/>
            <a:ext cx="502920" cy="201168"/>
          </a:xfrm>
          <a:prstGeom prst="rect">
            <a:avLst/>
          </a:prstGeom>
          <a:noFill/>
        </p:spPr>
        <p:txBody>
          <a:bodyPr wrap="square" lIns="0" rIns="0" tIns="0" bIns="0">
            <a:spAutoFit/>
          </a:bodyPr>
          <a:lstStyle/>
          <a:p>
            <a:pPr algn="r"/>
            <a:r>
              <a:rPr sz="800" b="0" i="0">
                <a:solidFill>
                  <a:srgbClr val="7C96A0"/>
                </a:solidFill>
                <a:latin typeface="Aptos"/>
              </a:rPr>
              <a:t>33</a:t>
            </a:r>
          </a:p>
        </p:txBody>
      </p:sp>
      <p:sp>
        <p:nvSpPr>
          <p:cNvPr id="16" name="TextBox 15"/>
          <p:cNvSpPr txBox="1"/>
          <p:nvPr/>
        </p:nvSpPr>
        <p:spPr>
          <a:xfrm>
            <a:off x="914400" y="2560320"/>
            <a:ext cx="10378440" cy="594360"/>
          </a:xfrm>
          <a:prstGeom prst="rect">
            <a:avLst/>
          </a:prstGeom>
          <a:noFill/>
        </p:spPr>
        <p:txBody>
          <a:bodyPr wrap="square" lIns="0" rIns="0" tIns="0" bIns="0">
            <a:spAutoFit/>
          </a:bodyPr>
          <a:lstStyle/>
          <a:p>
            <a:pPr algn="ctr"/>
            <a:r>
              <a:rPr sz="3400" b="1" i="1">
                <a:solidFill>
                  <a:srgbClr val="074662"/>
                </a:solidFill>
                <a:latin typeface="Georgia"/>
              </a:rPr>
              <a:t>Merci pour votre attention</a:t>
            </a:r>
          </a:p>
        </p:txBody>
      </p:sp>
      <p:sp>
        <p:nvSpPr>
          <p:cNvPr id="17" name="TextBox 16"/>
          <p:cNvSpPr txBox="1"/>
          <p:nvPr/>
        </p:nvSpPr>
        <p:spPr>
          <a:xfrm>
            <a:off x="914400" y="3246120"/>
            <a:ext cx="10378440" cy="411480"/>
          </a:xfrm>
          <a:prstGeom prst="rect">
            <a:avLst/>
          </a:prstGeom>
          <a:noFill/>
        </p:spPr>
        <p:txBody>
          <a:bodyPr wrap="square" lIns="0" rIns="0" tIns="0" bIns="0">
            <a:spAutoFit/>
          </a:bodyPr>
          <a:lstStyle/>
          <a:p>
            <a:pPr algn="ctr"/>
            <a:r>
              <a:rPr sz="2200" b="0" i="0">
                <a:solidFill>
                  <a:srgbClr val="1AA09E"/>
                </a:solidFill>
                <a:latin typeface="Aptos"/>
              </a:rPr>
              <a:t>Questions / Réponses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