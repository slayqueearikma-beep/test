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Entrepreneuriat 1/7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Opportunité de marché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Un besoin clair pour un SOC cloud accessible aux PME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1600200"/>
            <a:ext cx="73152" cy="379476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Contexte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Cyberattaques automatisées en hausse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PME marocaines exposées sans SOC interne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Solutions SIEM traditionnelles coûteuses et complexes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24528" y="1600200"/>
            <a:ext cx="73152" cy="379476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Problème client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Manque de visibilité sécurité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Temps de détection trop long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Réponse manuelle et non industrialisée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9068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90688" y="1600200"/>
            <a:ext cx="73152" cy="3794760"/>
          </a:xfrm>
          <a:prstGeom prst="rect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Opportunité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Solution Azure-native reproductible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Coût maîtrisé via PAYG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Déploiement rapide avec Terraform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Entrepreneuriat 2/7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Segments de clientèle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Les premiers utilisateurs ciblés par AITDR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1600200"/>
            <a:ext cx="73152" cy="379476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PME / startups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Budget limité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Besoin d'une protection simple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Peu ou pas d'équipe SOC dédiée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24528" y="1600200"/>
            <a:ext cx="73152" cy="379476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RSSI / analystes SOC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Réduction de l'alert fatigue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Centralisation Sentinel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Réponse automatisée par SOAR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9068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90688" y="1600200"/>
            <a:ext cx="73152" cy="3794760"/>
          </a:xfrm>
          <a:prstGeom prst="rect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MSSP / écoles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Solution réplicable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Support pédagogique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Base pour services managés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Entrepreneuriat 3/7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Proposition de valeur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Détecter, corréler et répondre rapidement aux menaces cloud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1600200"/>
            <a:ext cx="73152" cy="379476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Valeur technique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Pipeline complet : logs, SQL, Sentinel, SOAR, ML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Détection d'anomalies par Isolation Forest / DBSCAN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Architecture Hub-and-Spoke sécurisée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24528" y="1600200"/>
            <a:ext cx="73152" cy="379476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Valeur opérationnelle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MTTD visé : moins de 5 minutes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MTTC visé : moins de 30 secondes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Moins d'interventions manuelles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9068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90688" y="1600200"/>
            <a:ext cx="73152" cy="3794760"/>
          </a:xfrm>
          <a:prstGeom prst="rect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Valeur économique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Prototype sous budget de 100 USD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Infrastructure optimisée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Alternative accessible aux SIEM coûteux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32120"/>
            <a:ext cx="210312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" y="5669280"/>
            <a:ext cx="1883663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76F9B"/>
                </a:solidFill>
                <a:latin typeface="Aptos"/>
              </a:rPr>
              <a:t>&lt; 5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6053328"/>
            <a:ext cx="1883663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Temps moyen de détection visé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92040" y="5532120"/>
            <a:ext cx="210312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1768" y="5669280"/>
            <a:ext cx="1883663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A7A4"/>
                </a:solidFill>
                <a:latin typeface="Aptos"/>
              </a:rPr>
              <a:t>&lt; 30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01768" y="6053328"/>
            <a:ext cx="1883663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Temps moyen de confinement visé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32520" y="5532120"/>
            <a:ext cx="210312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42248" y="5669280"/>
            <a:ext cx="1883663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AA05A"/>
                </a:solidFill>
                <a:latin typeface="Aptos"/>
              </a:rPr>
              <a:t>100 USD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8" y="6053328"/>
            <a:ext cx="1883663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Budget initial du prototype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Entrepreneuriat 4/7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Business Model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Synthèse du modèle d'affaires AITDR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141732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8" y="1417320"/>
            <a:ext cx="73152" cy="114300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1581912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Partenaires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Azure, open source,</a:t>
            </a:r>
            <a:br/>
            <a:r>
              <a:t>écoles, TI feeds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141732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3128" y="1417320"/>
            <a:ext cx="73152" cy="114300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54296" y="1581912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Activités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8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Terraform, KQL,</a:t>
            </a:r>
            <a:br/>
            <a:r>
              <a:t>SOAR, ML, support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6448" y="141732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6448" y="1417320"/>
            <a:ext cx="73152" cy="1143000"/>
          </a:xfrm>
          <a:prstGeom prst="rect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1581912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Valeur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SOC cloud-native</a:t>
            </a:r>
            <a:br/>
            <a:r>
              <a:t>accessible et automatisé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292608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8" y="2926080"/>
            <a:ext cx="73152" cy="114300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3090672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Relations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7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Documentation,</a:t>
            </a:r>
            <a:br/>
            <a:r>
              <a:t>onboarding,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53128" y="292608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53128" y="2926080"/>
            <a:ext cx="73152" cy="114300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4296" y="3090672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Segments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81728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PME, RSSI,</a:t>
            </a:r>
            <a:br/>
            <a:r>
              <a:t>MSSP, écoles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56448" y="292608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56448" y="2926080"/>
            <a:ext cx="73152" cy="1143000"/>
          </a:xfrm>
          <a:prstGeom prst="rect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57616" y="3090672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Ressources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8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Sentinel, SQL,</a:t>
            </a:r>
            <a:br/>
            <a:r>
              <a:t>Logic Apps, scripts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9808" y="443484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8" y="4434840"/>
            <a:ext cx="73152" cy="114300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76" y="4599431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Canaux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7" y="49834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GitHub, Azure</a:t>
            </a:r>
            <a:br/>
            <a:r>
              <a:t>Marketplace, LinkedIn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53128" y="443484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53128" y="4434840"/>
            <a:ext cx="73152" cy="114300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54296" y="4599431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Coûts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1728" y="49834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Cloud, maintenance,</a:t>
            </a:r>
            <a:br/>
            <a:r>
              <a:t>R&amp;D, support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56448" y="4434840"/>
            <a:ext cx="3154680" cy="114300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56448" y="4434840"/>
            <a:ext cx="73152" cy="1143000"/>
          </a:xfrm>
          <a:prstGeom prst="rect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6" y="4599431"/>
            <a:ext cx="28072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Revenus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5048" y="49834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Freemium, SaaS,</a:t>
            </a:r>
            <a:br/>
            <a:r>
              <a:t>Enterprise, formation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Entrepreneuriat 5/7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Analyse concurrentielle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Positionnement face aux solutions SIEM/SOAR existantes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1463040"/>
          <a:ext cx="10744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050"/>
                <a:gridCol w="2686050"/>
                <a:gridCol w="2686050"/>
                <a:gridCol w="2686050"/>
              </a:tblGrid>
              <a:tr h="84124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Solution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Forces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Limites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Position AITDR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Microsoft Sentinel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Azure natif, IA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Configuration et coûts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Simplification + playbooks prêts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Splunk ES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Écosystème mature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Coût élevé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Alternative PME abordable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Elastic SIEM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Flexible, open source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Expertise requise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Déploiement guidé Azure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AITDR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Vertical : capture à réponse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Notoriété à construire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Prototype reproductible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Entrepreneuriat 6/7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Modèle de revenus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Des offres progressives pour accompagner la maturité client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1463040"/>
          <a:ext cx="107442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050"/>
                <a:gridCol w="2686050"/>
                <a:gridCol w="2686050"/>
                <a:gridCol w="2686050"/>
              </a:tblGrid>
              <a:tr h="83210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Offre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Prix cible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Fonctionnalités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Cible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Discovery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Gratuit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Open source, documentation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Étudiants / chercheurs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Basic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1 200 MAD/mois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Honeypot, Sentinel, règles KQL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Micro-entreprises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Premium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2 500 MAD/mois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SOAR, ML, Power BI, support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PME / ETI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Enterprise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Sur devis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SOC as a Service, formation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MSSP / grands comptes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Entrepreneuriat 7/7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Faisabilité financière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Maîtriser les coûts pour rendre la cybersécurité accessible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1600200"/>
            <a:ext cx="246888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737360"/>
            <a:ext cx="22494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AA05A"/>
                </a:solidFill>
                <a:latin typeface="Aptos"/>
              </a:rPr>
              <a:t>87,40 USD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121408"/>
            <a:ext cx="224942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Coût final estimé du prototype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1600200"/>
            <a:ext cx="246888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1737360"/>
            <a:ext cx="22494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76F9B"/>
                </a:solidFill>
                <a:latin typeface="Aptos"/>
              </a:rPr>
              <a:t>11 clients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10328" y="2121408"/>
            <a:ext cx="224942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Seuil de rentabilité estimé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1600200"/>
            <a:ext cx="246888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1737360"/>
            <a:ext cx="22494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A7A4"/>
                </a:solidFill>
                <a:latin typeface="Aptos"/>
              </a:rPr>
              <a:t>42%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2121408"/>
            <a:ext cx="224942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Marge nette cible S2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971800"/>
            <a:ext cx="10058400" cy="246888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971800"/>
            <a:ext cx="73152" cy="2468880"/>
          </a:xfrm>
          <a:prstGeom prst="rect">
            <a:avLst/>
          </a:prstGeom>
          <a:solidFill>
            <a:srgbClr val="2AA05A"/>
          </a:solidFill>
          <a:ln>
            <a:solidFill>
              <a:srgbClr val="2A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136392"/>
            <a:ext cx="971092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Hypothèses financières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520440"/>
            <a:ext cx="96469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Revenu moyen annuel : 18 000 MAD/client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Charges fixes : support, maintenance, marketing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Coût variable principal : infrastructure Azure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Rentabilité atteinte lorsque la marge couvre les charges fixes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Gestion de projet 1/7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Méthodologie retenue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Une approche Agile/Scrum adaptée à un projet technique évolutif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1600200"/>
            <a:ext cx="73152" cy="379476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Pourquoi Agile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Validation incrémentale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Adaptation aux contraintes Azure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Réduction des risques par itérations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24528" y="1600200"/>
            <a:ext cx="73152" cy="379476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Organisation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Backlog fonctionnel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Sprints courts orientés livrables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Démonstrations régulières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9068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90688" y="1600200"/>
            <a:ext cx="73152" cy="3794760"/>
          </a:xfrm>
          <a:prstGeom prst="rect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Résultat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Apprentissage continu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Priorisation par valeur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Meilleure maîtrise du périmètre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Gestion de projet 2/7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Découpage du travail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Work Breakdown Structure du projet AITDR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1600200"/>
            <a:ext cx="73152" cy="379476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VNet, NSG, Key Vault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VM1/VM2, SQL, Storage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Terraform modules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24528" y="1600200"/>
            <a:ext cx="73152" cy="379476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2569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Sécurité &amp; SIEM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Suricata, logs Linux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Microsoft Sentinel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Règles KQL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90688" y="1600200"/>
            <a:ext cx="3063240" cy="379476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90688" y="1600200"/>
            <a:ext cx="73152" cy="3794760"/>
          </a:xfrm>
          <a:prstGeom prst="rect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764792"/>
            <a:ext cx="271576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Automatisation &amp; 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148840"/>
            <a:ext cx="2651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Logic Apps SOAR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Scripts Python ETL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Isolation Forest / DBSCAN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Gestion de projet 3/7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Planning par phases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Progression logique depuis la conception jusqu'à la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319272"/>
            <a:ext cx="9966960" cy="36576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044952"/>
            <a:ext cx="420624" cy="420624"/>
          </a:xfrm>
          <a:prstGeom prst="ellipse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136392"/>
            <a:ext cx="155448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57600"/>
            <a:ext cx="10058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74662"/>
                </a:solidFill>
                <a:latin typeface="Aptos"/>
              </a:rPr>
              <a:t>Cadrage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23360"/>
            <a:ext cx="16002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053146"/>
                </a:solidFill>
                <a:latin typeface="Aptos"/>
              </a:rPr>
              <a:t>Besoin, objectifs,
architecture cible</a:t>
            </a:r>
          </a:p>
        </p:txBody>
      </p:sp>
      <p:sp>
        <p:nvSpPr>
          <p:cNvPr id="23" name="Oval 22"/>
          <p:cNvSpPr/>
          <p:nvPr/>
        </p:nvSpPr>
        <p:spPr>
          <a:xfrm>
            <a:off x="3108960" y="3044952"/>
            <a:ext cx="420624" cy="420624"/>
          </a:xfrm>
          <a:prstGeom prst="ellipse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3136392"/>
            <a:ext cx="155448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657600"/>
            <a:ext cx="10058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74662"/>
                </a:solidFill>
                <a:latin typeface="Aptos"/>
              </a:rPr>
              <a:t>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4023360"/>
            <a:ext cx="16002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053146"/>
                </a:solidFill>
                <a:latin typeface="Aptos"/>
              </a:rPr>
              <a:t>Terraform, VNet,
VM, SQL, Key Vault</a:t>
            </a:r>
          </a:p>
        </p:txBody>
      </p:sp>
      <p:sp>
        <p:nvSpPr>
          <p:cNvPr id="27" name="Oval 26"/>
          <p:cNvSpPr/>
          <p:nvPr/>
        </p:nvSpPr>
        <p:spPr>
          <a:xfrm>
            <a:off x="5257800" y="3044952"/>
            <a:ext cx="420624" cy="420624"/>
          </a:xfrm>
          <a:prstGeom prst="ellipse">
            <a:avLst/>
          </a:prstGeom>
          <a:solidFill>
            <a:srgbClr val="E6932D"/>
          </a:solidFill>
          <a:ln>
            <a:solidFill>
              <a:srgbClr val="E69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3136392"/>
            <a:ext cx="155448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657600"/>
            <a:ext cx="10058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74662"/>
                </a:solidFill>
                <a:latin typeface="Aptos"/>
              </a:rPr>
              <a:t>Collecte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23360"/>
            <a:ext cx="16002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053146"/>
                </a:solidFill>
                <a:latin typeface="Aptos"/>
              </a:rPr>
              <a:t>DVWA, Suricata,
ETL Python</a:t>
            </a:r>
          </a:p>
        </p:txBody>
      </p:sp>
      <p:sp>
        <p:nvSpPr>
          <p:cNvPr id="31" name="Oval 30"/>
          <p:cNvSpPr/>
          <p:nvPr/>
        </p:nvSpPr>
        <p:spPr>
          <a:xfrm>
            <a:off x="7406640" y="3044952"/>
            <a:ext cx="420624" cy="420624"/>
          </a:xfrm>
          <a:prstGeom prst="ellipse">
            <a:avLst/>
          </a:prstGeom>
          <a:solidFill>
            <a:srgbClr val="2AA05A"/>
          </a:solidFill>
          <a:ln>
            <a:solidFill>
              <a:srgbClr val="2A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3136392"/>
            <a:ext cx="155448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3657600"/>
            <a:ext cx="10058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74662"/>
                </a:solidFill>
                <a:latin typeface="Aptos"/>
              </a:rPr>
              <a:t>SIEM/SOAR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023360"/>
            <a:ext cx="16002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053146"/>
                </a:solidFill>
                <a:latin typeface="Aptos"/>
              </a:rPr>
              <a:t>Sentinel, KQL,
Logic Apps</a:t>
            </a:r>
          </a:p>
        </p:txBody>
      </p:sp>
      <p:sp>
        <p:nvSpPr>
          <p:cNvPr id="35" name="Oval 34"/>
          <p:cNvSpPr/>
          <p:nvPr/>
        </p:nvSpPr>
        <p:spPr>
          <a:xfrm>
            <a:off x="9555480" y="3044952"/>
            <a:ext cx="420624" cy="420624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92640" y="3136392"/>
            <a:ext cx="155448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657600"/>
            <a:ext cx="10058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74662"/>
                </a:solidFill>
                <a:latin typeface="Aptos"/>
              </a:rPr>
              <a:t>Validation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023360"/>
            <a:ext cx="16002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053146"/>
                </a:solidFill>
                <a:latin typeface="Aptos"/>
              </a:rPr>
              <a:t>ML, Power BI,
coûts, documentation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Gestion de projet 4/7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Équipe et responsabilités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Un projet réalisé par une équipe réduite avec rôles cumulés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14400" y="1463040"/>
          <a:ext cx="10287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3500"/>
                <a:gridCol w="5143500"/>
              </a:tblGrid>
              <a:tr h="7315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Rôle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Responsabilités principales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Chef de projet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Planification, suivi, budget, risques, documentation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Cloud Architect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Architecture Azure, réseau, sécurité, Terraform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Développeur SIEM/SOAR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Sentinel, KQL, Logic Apps, automatisation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Data Scientist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Features, modèles ML, évaluation des anomalies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DevSecOps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Bootstrap Linux, Docker, systemd, scripts de collecte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Gestion de projet 5/7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Gestion des risques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Identifier les risques techniques et budgétaires dès la conception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1417320"/>
          <a:ext cx="107899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7543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Risque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Impact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Mitigation</a:t>
                      </a:r>
                    </a:p>
                  </a:txBody>
                  <a:tcPr marL="54864" marR="54864" marT="36576" marB="36576">
                    <a:solidFill>
                      <a:srgbClr val="074662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Dépassement budget Azure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Élevé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Auto-shutdown, filtrage logs, suivi Cost Management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Volume Sentinel trop élevé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Élevé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DCR ciblées, rétention maîtrisée, tests progressifs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Données d'attaque insuffisantes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Moyen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Honeypot DVWA exposé et collecte continue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Faux positifs ML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Moyen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Calibration, features simples, validation manuelle</a:t>
                      </a:r>
                    </a:p>
                  </a:txBody>
                  <a:tcPr marL="54864" marR="54864" marT="36576" marB="36576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Complexité Terraform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Moyen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53146"/>
                          </a:solidFill>
                          <a:latin typeface="Aptos"/>
                        </a:defRPr>
                      </a:pPr>
                      <a:r>
                        <a:t>Modules séparés, plan avant apply, documentation</a:t>
                      </a:r>
                    </a:p>
                  </a:txBody>
                  <a:tcPr marL="54864" marR="54864" marT="36576" marB="36576">
                    <a:solidFill>
                      <a:srgbClr val="F8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Gestion de projet 6/7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Indicateurs de pilotage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Mesurer la réussite technique, opérationnelle et financière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1508760"/>
            <a:ext cx="224028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7" y="1645919"/>
            <a:ext cx="2020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76F9B"/>
                </a:solidFill>
                <a:latin typeface="Aptos"/>
              </a:rPr>
              <a:t>&lt; 1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7" y="2029967"/>
            <a:ext cx="202082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Déploiement infrastructure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11880" y="1508760"/>
            <a:ext cx="224028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1608" y="1645919"/>
            <a:ext cx="2020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A7A4"/>
                </a:solidFill>
                <a:latin typeface="Aptos"/>
              </a:rPr>
              <a:t>&gt; 10k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1608" y="2029967"/>
            <a:ext cx="202082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Requêtes malveillantes capturées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508760"/>
            <a:ext cx="224028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1645919"/>
            <a:ext cx="2020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E6932D"/>
                </a:solidFill>
                <a:latin typeface="Aptos"/>
              </a:rPr>
              <a:t>&lt; 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2029967"/>
            <a:ext cx="202082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Détection Sentinel / pipeline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1508760"/>
            <a:ext cx="2240280" cy="960120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08007" y="1645919"/>
            <a:ext cx="2020824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AA05A"/>
                </a:solidFill>
                <a:latin typeface="Aptos"/>
              </a:rPr>
              <a:t>&lt; 100 USD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7" y="2029967"/>
            <a:ext cx="2020824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053146"/>
                </a:solidFill>
                <a:latin typeface="Aptos"/>
              </a:rPr>
              <a:t>Respect du budget initial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" y="2926080"/>
            <a:ext cx="10058400" cy="233172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" y="2926080"/>
            <a:ext cx="73152" cy="2331720"/>
          </a:xfrm>
          <a:prstGeom prst="rect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" y="3090672"/>
            <a:ext cx="971092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Critères qualité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474720"/>
            <a:ext cx="9646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Infrastructure reproductible via Terraform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Logs centralisés et requêtables dans Azure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Réponse SOAR testable et traçable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Tableaux de bord Power BI exploitables pour la décision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356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42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347472"/>
            <a:ext cx="118872" cy="118872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6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7592" y="6355080"/>
            <a:ext cx="109728" cy="109728"/>
          </a:xfrm>
          <a:prstGeom prst="ellipse">
            <a:avLst/>
          </a:prstGeom>
          <a:solidFill>
            <a:srgbClr val="074662"/>
          </a:solidFill>
          <a:ln>
            <a:solidFill>
              <a:srgbClr val="0746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58368"/>
            <a:ext cx="347472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6199632"/>
            <a:ext cx="2926080" cy="27432"/>
          </a:xfrm>
          <a:prstGeom prst="rect">
            <a:avLst/>
          </a:prstGeom>
          <a:solidFill>
            <a:srgbClr val="7D97A1"/>
          </a:solidFill>
          <a:ln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"/>
            <a:ext cx="24688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7D97A1"/>
                </a:solidFill>
                <a:latin typeface="Aptos"/>
              </a:rPr>
              <a:t>Gestion de projet 7/7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02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D97A1"/>
                </a:solidFill>
                <a:latin typeface="Aptos"/>
              </a:rPr>
              <a:t>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2920"/>
            <a:ext cx="93268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 i="1">
                <a:solidFill>
                  <a:srgbClr val="074662"/>
                </a:solidFill>
                <a:latin typeface="Georgia"/>
              </a:rPr>
              <a:t>Livrables et perspectives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987552"/>
            <a:ext cx="8229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D97A1"/>
                </a:solidFill>
                <a:latin typeface="Aptos"/>
              </a:rPr>
              <a:t>Ce que le projet livre et ce qui peut être industrialisé ensuite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1417320"/>
            <a:ext cx="4937760" cy="406908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417320"/>
            <a:ext cx="73152" cy="4069080"/>
          </a:xfrm>
          <a:prstGeom prst="rect">
            <a:avLst/>
          </a:prstGeom>
          <a:solidFill>
            <a:srgbClr val="176F9B"/>
          </a:solidFill>
          <a:ln>
            <a:solidFill>
              <a:srgbClr val="176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1581912"/>
            <a:ext cx="459028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Livrables réalisés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1965960"/>
            <a:ext cx="4526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Architecture Azure Hub-and-Spoke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Code Terraform modulaire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Honeypot DVWA et Suricata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Pipeline ETL Bash/Python vers SQL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Règles KQL, SOAR Logic Apps, ML et Power BI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417320"/>
            <a:ext cx="4937760" cy="4069080"/>
          </a:xfrm>
          <a:prstGeom prst="roundRect">
            <a:avLst/>
          </a:prstGeom>
          <a:solidFill>
            <a:srgbClr val="F8FBFC"/>
          </a:solidFill>
          <a:ln w="12700">
            <a:solidFill>
              <a:srgbClr val="7D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1417320"/>
            <a:ext cx="73152" cy="4069080"/>
          </a:xfrm>
          <a:prstGeom prst="rect">
            <a:avLst/>
          </a:prstGeom>
          <a:solidFill>
            <a:srgbClr val="1DA7A4"/>
          </a:solidFill>
          <a:ln>
            <a:solidFill>
              <a:srgbClr val="1DA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7688" y="1581912"/>
            <a:ext cx="459028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74662"/>
                </a:solidFill>
                <a:latin typeface="Aptos"/>
              </a:rPr>
              <a:t>Perspectives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1965960"/>
            <a:ext cx="4526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Threat Intelligence et géolocalisation IP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Conversion Sigma vers KQL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Multi-honeypots géographiques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LLM pour rapports d'incident</a:t>
            </a:r>
          </a:p>
          <a:p>
            <a:pPr>
              <a:spcAft>
                <a:spcPts val="400"/>
              </a:spcAft>
              <a:defRPr sz="1050">
                <a:solidFill>
                  <a:srgbClr val="053146"/>
                </a:solidFill>
                <a:latin typeface="Aptos"/>
              </a:defRPr>
            </a:pPr>
            <a:r>
              <a:t>Industrialisation SaaS / Marketplace Azure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